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59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 corn yield vs trend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11"/>
            <c:spPr>
              <a:solidFill>
                <a:srgbClr val="2E6B4F"/>
              </a:solidFill>
              <a:ln w="9525" cap="flat">
                <a:solidFill>
                  <a:srgbClr val="2E6B4F"/>
                </a:solidFill>
                <a:prstDash val="solid"/>
                <a:round/>
              </a:ln>
              <a:effectLst/>
            </c:spPr>
          </c:marker>
          <c:dPt>
            <c:idx val="25"/>
            <c:marker>
              <c:symbol val="circle"/>
              <c:size val="13"/>
              <c:spPr>
                <a:solidFill>
                  <a:srgbClr val="C2502D"/>
                </a:solidFill>
                <a:ln w="9525">
                  <a:solidFill>
                    <a:srgbClr val="C2502D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73B1-9E46-B44F-9618F47C8CFE}"/>
              </c:ext>
            </c:extLst>
          </c:dPt>
          <c:xVal>
            <c:numRef>
              <c:f>Sheet1!$A$2:$A$27</c:f>
              <c:numCache>
                <c:formatCode>General</c:formatCode>
                <c:ptCount val="26"/>
                <c:pt idx="0">
                  <c:v>-1.2470000000000001</c:v>
                </c:pt>
                <c:pt idx="1">
                  <c:v>-1.026</c:v>
                </c:pt>
                <c:pt idx="2">
                  <c:v>-1.004</c:v>
                </c:pt>
                <c:pt idx="3">
                  <c:v>-0.82799999999999996</c:v>
                </c:pt>
                <c:pt idx="4">
                  <c:v>-0.78700000000000003</c:v>
                </c:pt>
                <c:pt idx="5">
                  <c:v>-0.76300000000000001</c:v>
                </c:pt>
                <c:pt idx="6">
                  <c:v>-0.623</c:v>
                </c:pt>
                <c:pt idx="7">
                  <c:v>-0.52300000000000002</c:v>
                </c:pt>
                <c:pt idx="8">
                  <c:v>-0.51900000000000002</c:v>
                </c:pt>
                <c:pt idx="9">
                  <c:v>-0.5</c:v>
                </c:pt>
                <c:pt idx="10">
                  <c:v>-0.47499999999999998</c:v>
                </c:pt>
                <c:pt idx="11">
                  <c:v>1.7000000000000001E-2</c:v>
                </c:pt>
                <c:pt idx="12">
                  <c:v>7.3999999999999996E-2</c:v>
                </c:pt>
                <c:pt idx="13">
                  <c:v>7.6999999999999999E-2</c:v>
                </c:pt>
                <c:pt idx="14">
                  <c:v>8.4000000000000005E-2</c:v>
                </c:pt>
                <c:pt idx="15">
                  <c:v>0.16700000000000001</c:v>
                </c:pt>
                <c:pt idx="16">
                  <c:v>0.18099999999999999</c:v>
                </c:pt>
                <c:pt idx="17">
                  <c:v>0.222</c:v>
                </c:pt>
                <c:pt idx="18">
                  <c:v>0.26600000000000001</c:v>
                </c:pt>
                <c:pt idx="19">
                  <c:v>0.36199999999999999</c:v>
                </c:pt>
                <c:pt idx="20">
                  <c:v>0.54800000000000004</c:v>
                </c:pt>
                <c:pt idx="21">
                  <c:v>0.58199999999999996</c:v>
                </c:pt>
                <c:pt idx="22">
                  <c:v>0.66900000000000004</c:v>
                </c:pt>
                <c:pt idx="23">
                  <c:v>0.91600000000000004</c:v>
                </c:pt>
                <c:pt idx="24">
                  <c:v>1.0620000000000001</c:v>
                </c:pt>
                <c:pt idx="25">
                  <c:v>3.0649999999999999</c:v>
                </c:pt>
              </c:numCache>
            </c:numRef>
          </c:xVal>
          <c:yVal>
            <c:numRef>
              <c:f>Sheet1!$B$2:$B$27</c:f>
              <c:numCache>
                <c:formatCode>General</c:formatCode>
                <c:ptCount val="26"/>
                <c:pt idx="0">
                  <c:v>-1.59</c:v>
                </c:pt>
                <c:pt idx="1">
                  <c:v>5.25</c:v>
                </c:pt>
                <c:pt idx="2">
                  <c:v>2.4900000000000002</c:v>
                </c:pt>
                <c:pt idx="3">
                  <c:v>7.3</c:v>
                </c:pt>
                <c:pt idx="4">
                  <c:v>3.85</c:v>
                </c:pt>
                <c:pt idx="5">
                  <c:v>1.27</c:v>
                </c:pt>
                <c:pt idx="6">
                  <c:v>5.08</c:v>
                </c:pt>
                <c:pt idx="7">
                  <c:v>-0.91</c:v>
                </c:pt>
                <c:pt idx="8">
                  <c:v>11.34</c:v>
                </c:pt>
                <c:pt idx="9">
                  <c:v>2.02</c:v>
                </c:pt>
                <c:pt idx="10">
                  <c:v>-2.4500000000000002</c:v>
                </c:pt>
                <c:pt idx="11">
                  <c:v>5.1100000000000003</c:v>
                </c:pt>
                <c:pt idx="12">
                  <c:v>0.23</c:v>
                </c:pt>
                <c:pt idx="13">
                  <c:v>0.79</c:v>
                </c:pt>
                <c:pt idx="14">
                  <c:v>-6.45</c:v>
                </c:pt>
                <c:pt idx="15">
                  <c:v>-1.24</c:v>
                </c:pt>
                <c:pt idx="16">
                  <c:v>-0.17</c:v>
                </c:pt>
                <c:pt idx="17">
                  <c:v>0.05</c:v>
                </c:pt>
                <c:pt idx="18">
                  <c:v>-1.57</c:v>
                </c:pt>
                <c:pt idx="19">
                  <c:v>0.74</c:v>
                </c:pt>
                <c:pt idx="20">
                  <c:v>-7.83</c:v>
                </c:pt>
                <c:pt idx="21">
                  <c:v>-2.17</c:v>
                </c:pt>
                <c:pt idx="22">
                  <c:v>1.42</c:v>
                </c:pt>
                <c:pt idx="23">
                  <c:v>0.96</c:v>
                </c:pt>
                <c:pt idx="24">
                  <c:v>-1.01</c:v>
                </c:pt>
                <c:pt idx="25">
                  <c:v>-22.47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3B1-9E46-B44F-9618F47C8C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3.5"/>
          <c:min val="-1.5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E6A64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5E6A64"/>
                    </a:solidFill>
                    <a:latin typeface="Arial"/>
                  </a:rPr>
                  <a:t>Weather stress index (z-score; hotter and drier to the right)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AEB7B2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Arial"/>
              </a:defRPr>
            </a:pPr>
            <a:endParaRPr lang="en-US"/>
          </a:p>
        </c:txPr>
        <c:crossAx val="2094734552"/>
        <c:crossesAt val="-25"/>
        <c:crossBetween val="midCat"/>
        <c:majorUnit val="1"/>
      </c:valAx>
      <c:valAx>
        <c:axId val="2094734552"/>
        <c:scaling>
          <c:orientation val="minMax"/>
          <c:max val="15"/>
          <c:min val="-25"/>
        </c:scaling>
        <c:delete val="0"/>
        <c:axPos val="l"/>
        <c:majorGridlines>
          <c:spPr>
            <a:ln w="9525" cap="flat">
              <a:solidFill>
                <a:srgbClr val="E3E8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E6A64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5E6A64"/>
                    </a:solidFill>
                    <a:latin typeface="Arial"/>
                  </a:rPr>
                  <a:t>US corn yield vs trend (%)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Arial"/>
              </a:defRPr>
            </a:pPr>
            <a:endParaRPr lang="en-US"/>
          </a:p>
        </c:txPr>
        <c:crossAx val="2094734554"/>
        <c:crossesAt val="-1.5"/>
        <c:crossBetween val="midCat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Corn futures, % change since June 1</c:v>
                </c:pt>
              </c:strCache>
            </c:strRef>
          </c:tx>
          <c:spPr>
            <a:ln w="38100" cap="flat">
              <a:solidFill>
                <a:srgbClr val="2E6B4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Sheet1!$A$2:$A$18</c:f>
              <c:strCache>
                <c:ptCount val="17"/>
                <c:pt idx="0">
                  <c:v>Jun 5</c:v>
                </c:pt>
                <c:pt idx="1">
                  <c:v>Jun 12</c:v>
                </c:pt>
                <c:pt idx="2">
                  <c:v>Jun 19</c:v>
                </c:pt>
                <c:pt idx="3">
                  <c:v>Jun 26</c:v>
                </c:pt>
                <c:pt idx="4">
                  <c:v>Jul 3</c:v>
                </c:pt>
                <c:pt idx="5">
                  <c:v>Jul 10</c:v>
                </c:pt>
                <c:pt idx="6">
                  <c:v>Jul 17</c:v>
                </c:pt>
                <c:pt idx="7">
                  <c:v>Jul 24</c:v>
                </c:pt>
                <c:pt idx="8">
                  <c:v>Jul 31</c:v>
                </c:pt>
                <c:pt idx="9">
                  <c:v>Aug 7</c:v>
                </c:pt>
                <c:pt idx="10">
                  <c:v>Aug 14</c:v>
                </c:pt>
                <c:pt idx="11">
                  <c:v>Aug 21</c:v>
                </c:pt>
                <c:pt idx="12">
                  <c:v>Aug 28</c:v>
                </c:pt>
                <c:pt idx="13">
                  <c:v>Sep 4</c:v>
                </c:pt>
                <c:pt idx="14">
                  <c:v>Sep 11</c:v>
                </c:pt>
                <c:pt idx="15">
                  <c:v>Sep 18</c:v>
                </c:pt>
                <c:pt idx="16">
                  <c:v>Sep 25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2.9</c:v>
                </c:pt>
                <c:pt idx="1">
                  <c:v>5.9</c:v>
                </c:pt>
                <c:pt idx="2">
                  <c:v>11.1</c:v>
                </c:pt>
                <c:pt idx="3">
                  <c:v>17.100000000000001</c:v>
                </c:pt>
                <c:pt idx="4">
                  <c:v>30.3</c:v>
                </c:pt>
                <c:pt idx="5">
                  <c:v>38</c:v>
                </c:pt>
                <c:pt idx="6">
                  <c:v>41.3</c:v>
                </c:pt>
                <c:pt idx="7">
                  <c:v>43.2</c:v>
                </c:pt>
                <c:pt idx="8">
                  <c:v>46.2</c:v>
                </c:pt>
                <c:pt idx="9">
                  <c:v>44.3</c:v>
                </c:pt>
                <c:pt idx="10">
                  <c:v>41.4</c:v>
                </c:pt>
                <c:pt idx="11">
                  <c:v>50.7</c:v>
                </c:pt>
                <c:pt idx="12">
                  <c:v>43.2</c:v>
                </c:pt>
                <c:pt idx="13">
                  <c:v>46.3</c:v>
                </c:pt>
                <c:pt idx="14">
                  <c:v>41.8</c:v>
                </c:pt>
                <c:pt idx="15">
                  <c:v>34.200000000000003</c:v>
                </c:pt>
                <c:pt idx="16">
                  <c:v>34.9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327-A349-B4C4-3A6C9708A1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Iowa in severe drought, % of state</c:v>
                </c:pt>
              </c:strCache>
            </c:strRef>
          </c:tx>
          <c:spPr>
            <a:ln w="38100" cap="flat">
              <a:solidFill>
                <a:srgbClr val="C2502D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Sheet1!$A$2:$A$18</c:f>
              <c:strCache>
                <c:ptCount val="17"/>
                <c:pt idx="0">
                  <c:v>Jun 5</c:v>
                </c:pt>
                <c:pt idx="1">
                  <c:v>Jun 12</c:v>
                </c:pt>
                <c:pt idx="2">
                  <c:v>Jun 19</c:v>
                </c:pt>
                <c:pt idx="3">
                  <c:v>Jun 26</c:v>
                </c:pt>
                <c:pt idx="4">
                  <c:v>Jul 3</c:v>
                </c:pt>
                <c:pt idx="5">
                  <c:v>Jul 10</c:v>
                </c:pt>
                <c:pt idx="6">
                  <c:v>Jul 17</c:v>
                </c:pt>
                <c:pt idx="7">
                  <c:v>Jul 24</c:v>
                </c:pt>
                <c:pt idx="8">
                  <c:v>Jul 31</c:v>
                </c:pt>
                <c:pt idx="9">
                  <c:v>Aug 7</c:v>
                </c:pt>
                <c:pt idx="10">
                  <c:v>Aug 14</c:v>
                </c:pt>
                <c:pt idx="11">
                  <c:v>Aug 21</c:v>
                </c:pt>
                <c:pt idx="12">
                  <c:v>Aug 28</c:v>
                </c:pt>
                <c:pt idx="13">
                  <c:v>Sep 4</c:v>
                </c:pt>
                <c:pt idx="14">
                  <c:v>Sep 11</c:v>
                </c:pt>
                <c:pt idx="15">
                  <c:v>Sep 18</c:v>
                </c:pt>
                <c:pt idx="16">
                  <c:v>Sep 25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0.8</c:v>
                </c:pt>
                <c:pt idx="5">
                  <c:v>12.7</c:v>
                </c:pt>
                <c:pt idx="6">
                  <c:v>58.8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327-A349-B4C4-3A6C9708A1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DD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3E8E5"/>
              </a:solidFill>
              <a:prstDash val="solid"/>
              <a:round/>
            </a:ln>
          </c:spPr>
        </c:majorGridlines>
        <c:numFmt formatCode="0\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A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D2723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2E6B4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BDB-9540-8630-E4E08010646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BDB-9540-8630-E4E08010646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BDB-9540-8630-E4E080106463}"/>
              </c:ext>
            </c:extLst>
          </c:dPt>
          <c:dPt>
            <c:idx val="3"/>
            <c:invertIfNegative val="0"/>
            <c:bubble3D val="0"/>
            <c:spPr>
              <a:solidFill>
                <a:srgbClr val="AEB7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BDB-9540-8630-E4E080106463}"/>
              </c:ext>
            </c:extLst>
          </c:dPt>
          <c:dPt>
            <c:idx val="4"/>
            <c:invertIfNegative val="0"/>
            <c:bubble3D val="0"/>
            <c:spPr>
              <a:solidFill>
                <a:srgbClr val="AEB7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BDB-9540-8630-E4E080106463}"/>
              </c:ext>
            </c:extLst>
          </c:dPt>
          <c:dPt>
            <c:idx val="5"/>
            <c:invertIfNegative val="0"/>
            <c:bubble3D val="0"/>
            <c:spPr>
              <a:solidFill>
                <a:srgbClr val="AEB7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BDB-9540-8630-E4E080106463}"/>
              </c:ext>
            </c:extLst>
          </c:dPt>
          <c:dPt>
            <c:idx val="6"/>
            <c:invertIfNegative val="0"/>
            <c:bubble3D val="0"/>
            <c:spPr>
              <a:solidFill>
                <a:srgbClr val="AEB7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BDB-9540-8630-E4E080106463}"/>
              </c:ext>
            </c:extLst>
          </c:dPt>
          <c:dLbls>
            <c:numFmt formatCode="\+0.00;\-0.00;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D272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3 wks
before
*</c:v>
                </c:pt>
                <c:pt idx="1">
                  <c:v>2 wks
before
***</c:v>
                </c:pt>
                <c:pt idx="2">
                  <c:v>1 wk
before
**</c:v>
                </c:pt>
                <c:pt idx="3">
                  <c:v>Publication
week</c:v>
                </c:pt>
                <c:pt idx="4">
                  <c:v>1 wk
after</c:v>
                </c:pt>
                <c:pt idx="5">
                  <c:v>2 wks
after
*</c:v>
                </c:pt>
                <c:pt idx="6">
                  <c:v>3 wks
after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7.4931998957441848E-2</c:v>
                </c:pt>
                <c:pt idx="1">
                  <c:v>0.14242849115617315</c:v>
                </c:pt>
                <c:pt idx="2">
                  <c:v>0.10350314264585725</c:v>
                </c:pt>
                <c:pt idx="3">
                  <c:v>4.1124385180551408E-3</c:v>
                </c:pt>
                <c:pt idx="4">
                  <c:v>6.6881134186120503E-2</c:v>
                </c:pt>
                <c:pt idx="5">
                  <c:v>7.4893833485678407E-2</c:v>
                </c:pt>
                <c:pt idx="6">
                  <c:v>1.2265542936572267E-2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2BDB-9540-8630-E4E08010646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DD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272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670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  ·  leave by 0:15
• Haydn Stucker · AIPI 590 project proposal
• One question: does the futures market price weather before the data does?
• Road map: the problem, the data and who needs it, then the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 ·  leave by 1:15
• Heat and drought hit crops, low rivers stall barges, storms close ports
• Flows through to futures, food costs, groceries
• Weather data is free, global, decades deep — looks like ideal alt data
• Hard part 1: supply chains are opaque → map exposure from where crops grow
• Hard part 2: observations publish late; markets trade forecasts continuously
• So: can free climate data measure supply shocks, and tell the market anything new?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  ·  leave by 2:00
• Measure — can the data capture real supply shocks? Validate on yields first
• Timing — do futures respond before or after publication?
• Value — does a risk score beat what prices already contain? Out of sample
• Stretch: are cocoa and coffee slower? does it reach agribusiness stocks?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1:05  ·  leave by 3:50
• All free and public, 15+ years of history
• NASA POWER — daily temperature and rain, any location
• Drought Monitor — weekly by county and state, published Thursdays → lets me test timing
• Yahoo Finance — corn, soy, wheat, coffee, cocoa, OJ; Teucrium CORN avoids roll jumps
• FAO yields via Our World in Data — the answer key
• Next: NOAA Storm Events, and USDA county production (free key) for weights
• Everything but USDA already pulled and checked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  ·  leave by 4:40
• Feasibility check before committing to the project
• 5 corn-belt points, equal weights; index = July heat + summer rain + peak drought
• r = −0.73 against yield vs trend
• Without 2012: −0.43, still significant. July heat alone −0.78
• Point: the measurement works even this crude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  ·  leave by 5:35
• Worst corn-belt drought in decades
• Green = corn futures; red = share of Iowa in severe drought
• July 3: corn +30%, but only 1% of Iowa in severe drought
• Half the rally done by July 2 — two weeks before the map showed half the state
• Maps publish two days after their date
• Drought was real: yields −22% vs trend. The market did not wait for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 ·  leave by 6:35
• Bars = correlation of weekly corn returns with drought change, by timing
• Green (1–3 weeks before publication) strongest; publication week ≈ 0
• Drought builds slowly → also estimated every lead and lag jointly
• Still leads by 1–2 weeks, nothing after publication significant, holds without 2012
• Annual story is almost all 2012: +0.42 → +0.07
• So the market may already know — the project measures how early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  ·  leave by 7:20
• BCG 10-20-70 — 10% algorithms, 20% data and tech, 70% people and process
• My algorithms are deliberately simple
• Most of the semester is the 20%: exposure, pipeline, publication dates
• The 70% is the stakeholder slide: whose decision changes, and when
• If the market already prices weather, that was only the 10%
• Caveat: enterprise rule, I am one person — it guides effort, not a change programme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  ·  leave by 2:45
• Traders and funds — price risk, signals
• Food and beverage makers — procurement, hedging
• Grain handlers, barge and rail, ports — physical disruption
• Farmers and co-ops — hedging, marketing
• Insurers and lenders — crop insurance, ag credit
• Policymakers and consumers — food security, prices
• Land this: a validated score helps everyone who does not trade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1:05  ·  leave by 8:25
• 1 Map exposure — USDA county production weights replace equal weights
• 2 Measure stress — heat above 29 °C, rain, drought in each crop's window
• 3 Build the risk score — validate on yields before touching prices
• 4 Link to prices — lead-lag and event studies; control seasonality, USDA reports, rolls
• 5 Extend — forecasts, cocoa and coffee, agribusiness stocks
• Phases follow CRISP-ML(Q): each has a validation gate
• Guardrails: publication-date data, out of sample, every result re-run without 2012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  ·  leave by 9:10
• Data first — automated, re-runnable pipeline over the next few weeks
• October — exposure weights and stress measures, then the score and yield validation
• November — the price tests
• Extensions alongside, as time allows
• Early December — write-up and final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  ·  leave by 9:45
• Market already knows → how early it knows is the finding; forecasts, cocoa
• One extreme year → every result with and without 2012; more crops and regions
• Observed weather lags forecasts → track publication lags; forecasts as an extension
• Contract rolls → cross-check the CORN fund, control roll dates
• Five points too crude → USDA county weights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  ·  leave by 10:00
• Measure weather stress, validated on yields
• Time market moves against publication dates
• Test whether a risk score adds anything new
• Thanks — happy to take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FD3C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FD3C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258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1A6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DUKE AIPI 590  ·  ALTERNATIVE DATA  ·  PROJECT PROPOSAL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7223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Climate Impacts on Futures Pricing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BF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futures market price weather before the data does?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749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Haydn Stucker  ·  September 2026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549640" y="1417320"/>
            <a:ext cx="2743200" cy="2743200"/>
          </a:xfrm>
          <a:prstGeom prst="ellipse">
            <a:avLst/>
          </a:prstGeom>
          <a:solidFill>
            <a:srgbClr val="E1A624"/>
          </a:solidFill>
          <a:ln w="9525">
            <a:solidFill>
              <a:srgbClr val="E1A6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1965960"/>
            <a:ext cx="1645920" cy="1645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955280" y="3840480"/>
            <a:ext cx="1188720" cy="1188720"/>
          </a:xfrm>
          <a:prstGeom prst="ellipse">
            <a:avLst/>
          </a:prstGeom>
          <a:solidFill>
            <a:srgbClr val="C2502D"/>
          </a:solidFill>
          <a:ln w="9525">
            <a:solidFill>
              <a:srgbClr val="C250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573" y="4125773"/>
            <a:ext cx="618134" cy="61813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0378440" y="4069080"/>
            <a:ext cx="1188720" cy="1188720"/>
          </a:xfrm>
          <a:prstGeom prst="ellipse">
            <a:avLst/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3733" y="4354373"/>
            <a:ext cx="618134" cy="6181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breaks supply chains, but weather data is hard to turn into a signal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22960" cy="822960"/>
          </a:xfrm>
          <a:prstGeom prst="ellipse">
            <a:avLst/>
          </a:prstGeom>
          <a:solidFill>
            <a:srgbClr val="C2502D"/>
          </a:solidFill>
          <a:ln w="9525">
            <a:solidFill>
              <a:srgbClr val="C250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198059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and drought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Crops fail, rivers run low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931920" y="2194560"/>
            <a:ext cx="320040" cy="0"/>
          </a:xfrm>
          <a:prstGeom prst="line">
            <a:avLst/>
          </a:prstGeom>
          <a:noFill/>
          <a:ln w="25400">
            <a:solidFill>
              <a:srgbClr val="AEB7B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343400" y="1783080"/>
            <a:ext cx="822960" cy="822960"/>
          </a:xfrm>
          <a:prstGeom prst="ellipse">
            <a:avLst/>
          </a:prstGeom>
          <a:solidFill>
            <a:srgbClr val="E1A624"/>
          </a:solidFill>
          <a:ln w="9525">
            <a:solidFill>
              <a:srgbClr val="E1A6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074" y="1914754"/>
            <a:ext cx="559613" cy="55961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03520" y="1783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shortfalls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harvests, idle barges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726680" y="2194560"/>
            <a:ext cx="320040" cy="0"/>
          </a:xfrm>
          <a:prstGeom prst="line">
            <a:avLst/>
          </a:prstGeom>
          <a:noFill/>
          <a:ln w="25400">
            <a:solidFill>
              <a:srgbClr val="AEB7B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8138160" y="1783080"/>
            <a:ext cx="822960" cy="822960"/>
          </a:xfrm>
          <a:prstGeom prst="ellipse">
            <a:avLst/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670" y="1980590"/>
            <a:ext cx="427939" cy="42793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098280" y="178308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move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Futures, food costs, groceries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2926080"/>
            <a:ext cx="5413248" cy="1828800"/>
          </a:xfrm>
          <a:prstGeom prst="roundRect">
            <a:avLst>
              <a:gd name="adj" fmla="val 4000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822960" y="3218688"/>
            <a:ext cx="685800" cy="685800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3383280"/>
            <a:ext cx="356616" cy="35661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737360" y="32004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chains are opaque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1737360" y="3675888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 is geographic, but companies rarely disclose where supply comes from, so it must be mapped from where crops are grown.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227064" y="2926080"/>
            <a:ext cx="5413248" cy="1828800"/>
          </a:xfrm>
          <a:prstGeom prst="roundRect">
            <a:avLst>
              <a:gd name="adj" fmla="val 4000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6501384" y="3218688"/>
            <a:ext cx="685800" cy="685800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5976" y="3383280"/>
            <a:ext cx="356616" cy="35661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415784" y="32004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data arrives late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7415784" y="3675888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 are published days to weeks after the fact, while futures react to forecasts continuously.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548640" y="498348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 txBox="1"/>
          <p:nvPr/>
        </p:nvSpPr>
        <p:spPr>
          <a:xfrm>
            <a:off x="86868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A6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868680" y="5449824"/>
            <a:ext cx="10469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free climate data, mapped to where crops grow, measure supply shocks, and does it tell the futures market anything it does not already know?</a:t>
            </a:r>
            <a:endParaRPr lang="en-US" sz="19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6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core questions, two stretch goals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15258" cy="2971800"/>
          </a:xfrm>
          <a:prstGeom prst="roundRect">
            <a:avLst>
              <a:gd name="adj" fmla="val 2462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585216" cy="585216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11680"/>
            <a:ext cx="22350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free climate data, mapped to where crops grow, measure supply shocks?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148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against actual crop yields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38218" y="1737360"/>
            <a:ext cx="3515258" cy="2971800"/>
          </a:xfrm>
          <a:prstGeom prst="roundRect">
            <a:avLst>
              <a:gd name="adj" fmla="val 2462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2538" y="2011680"/>
            <a:ext cx="585216" cy="585216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612538" y="20116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344058" y="2011680"/>
            <a:ext cx="22350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12538" y="278892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futures prices respond to weather stress, and before or after the data is published?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612538" y="41148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against publication dates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7797" y="1737360"/>
            <a:ext cx="3515258" cy="2971800"/>
          </a:xfrm>
          <a:prstGeom prst="roundRect">
            <a:avLst>
              <a:gd name="adj" fmla="val 2462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402117" y="2011680"/>
            <a:ext cx="585216" cy="585216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402117" y="20116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133637" y="2011680"/>
            <a:ext cx="22350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402117" y="278892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 climate risk score tell the market anything it does not already know?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402117" y="41148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sample, against price-only baselines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956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EXPLORATORY, AS TIME ALLOWS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349240"/>
            <a:ext cx="640080" cy="640080"/>
          </a:xfrm>
          <a:prstGeom prst="ellipse">
            <a:avLst/>
          </a:prstGeom>
          <a:solidFill>
            <a:srgbClr val="DCEBE2"/>
          </a:solidFill>
          <a:ln w="9525">
            <a:solidFill>
              <a:srgbClr val="DCE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8" y="5490058"/>
            <a:ext cx="358445" cy="358445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353312" y="5349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</a:t>
            </a:r>
            <a:r>
              <a:rPr lang="en-US" sz="16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tree crops like cocoa and coffee price weather more slowly?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227064" y="5349240"/>
            <a:ext cx="640080" cy="640080"/>
          </a:xfrm>
          <a:prstGeom prst="ellipse">
            <a:avLst/>
          </a:prstGeom>
          <a:solidFill>
            <a:srgbClr val="DCEBE2"/>
          </a:solidFill>
          <a:ln w="9525">
            <a:solidFill>
              <a:srgbClr val="DCE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7882" y="5490058"/>
            <a:ext cx="358445" cy="358445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031736" y="5349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 </a:t>
            </a:r>
            <a:r>
              <a:rPr lang="en-US" sz="16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effect reach agribusiness stocks?</a:t>
            </a:r>
            <a:endParaRPr lang="en-US" sz="1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6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Free, public data with at least 15 years of history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43891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measures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History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NASA POWER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temperature and rainfall for any location, about 3 days behind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1981 → now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Free, no key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</a:t>
                      </a: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use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Drought Monitor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 share of area in drought by county and state, published Thursdays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2000 → now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Free, no key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</a:t>
                      </a: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use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Yahoo Finance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futures: corn, soybeans, wheat, coffee, cocoa, orange juice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2000–01 → now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Free, no key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</a:t>
                      </a: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use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Teucrium CORN fund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Corn price without contract-roll jumps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2010 → now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Free, no key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</a:t>
                      </a: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use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FAO crop yields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national yields for US corn and West African cocoa, via Our World in Data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2000 → 2024–25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Free, no key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</a:t>
                      </a: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use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NOAA Storm Events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Severe weather events with property and crop damage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1950 → now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Free, no key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9A6D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</a:t>
                      </a: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up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USDA NASS Quick Stats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County crop production, to weight locations by output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Decades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API key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250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</a:t>
                      </a:r>
                      <a:r>
                        <a:rPr lang="en-US" sz="1400" dirty="0">
                          <a:solidFill>
                            <a:srgbClr val="1D27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key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30936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sources except USDA NASS were pulled and checked for this proposal; publication lags are recorded so tests use only data available at the time.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6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check: measurement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weather index already tracks corn yield shortfalls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2763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2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year, 2000–2025      </a:t>
            </a:r>
            <a:r>
              <a:rPr lang="en-US" sz="1200" dirty="0">
                <a:solidFill>
                  <a:srgbClr val="C25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2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20240"/>
          <a:ext cx="72237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83880" y="1691640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−0.73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2487168"/>
            <a:ext cx="3456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between the index and yield vs trend, 2000–2025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3200400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−0.43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3995928"/>
            <a:ext cx="3456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significant without 2012 (p = 0.02)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183880" y="4709160"/>
            <a:ext cx="3456432" cy="1417320"/>
          </a:xfrm>
          <a:prstGeom prst="roundRect">
            <a:avLst>
              <a:gd name="adj" fmla="val 5161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366760" y="4846320"/>
            <a:ext cx="3090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heat alone: </a:t>
            </a:r>
            <a:r>
              <a:rPr lang="en-US" sz="13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−0.78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shortfalls: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 (−22%), 2002 (−8%), 2011 (−6%)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30936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Index: July heat, June–August rain (inverted) and peak drought at five corn-belt points (z-scores). Yields: FAO via Our World in Data, vs trend.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6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2012: the market moved first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 futures priced the drought before the Drought Monitor showed it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731520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0" y="1691640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2441448"/>
            <a:ext cx="3410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 futures by July 3, when 1% of Iowa was in severe drought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3200400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25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weeks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3950208"/>
            <a:ext cx="3410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the rally was done before half of Iowa was in severe drought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709160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−22%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5458968"/>
            <a:ext cx="3410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corn yield vs trend that year, the largest shortfall since 2000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30936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Weekly, June–September 2012. Maps are published two days after the dates shown. Sources: Yahoo Finance (ZC=F), US Drought Monitor.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6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check: timing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 prices move before the drought data is published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72237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3387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corn return, timed relative to publication of the drought change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1691640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weeks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2441448"/>
            <a:ext cx="3456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 prices lead the Drought Monitor, even with all leads and lags estimated jointly and 2012 excluded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3429000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25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+0.42 → +0.07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4133088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annual link between summer stress and corn returns vanishes without 2012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183880" y="4937760"/>
            <a:ext cx="3456432" cy="1188720"/>
          </a:xfrm>
          <a:prstGeom prst="roundRect">
            <a:avLst>
              <a:gd name="adj" fmla="val 6154"/>
            </a:avLst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412480" y="5047488"/>
            <a:ext cx="29992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may already know. The project measures how early, and whether better data closes the gap.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30936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seasons (May–September) 2000–2025, about 555 weeks per estimate.   *** p &lt; 0.01   ** p &lt; 0.05   * p &lt; 0.10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6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value comes from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BCG’s 10-20-70 rule, applied to this project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15258" cy="2971800"/>
          </a:xfrm>
          <a:prstGeom prst="roundRect">
            <a:avLst>
              <a:gd name="adj" fmla="val 2462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658368" cy="658368"/>
          </a:xfrm>
          <a:prstGeom prst="ellipse">
            <a:avLst/>
          </a:prstGeom>
          <a:solidFill>
            <a:srgbClr val="DCEBE2"/>
          </a:solidFill>
          <a:ln w="9525">
            <a:solidFill>
              <a:srgbClr val="DCE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01" y="2156521"/>
            <a:ext cx="368686" cy="3686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75104"/>
            <a:ext cx="2143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52928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346704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Lead-lag regressions and event studies, kept simple so the result is auditable.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38218" y="1737360"/>
            <a:ext cx="3515258" cy="2971800"/>
          </a:xfrm>
          <a:prstGeom prst="roundRect">
            <a:avLst>
              <a:gd name="adj" fmla="val 2462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12538" y="2011680"/>
            <a:ext cx="658368" cy="658368"/>
          </a:xfrm>
          <a:prstGeom prst="ellipse">
            <a:avLst/>
          </a:prstGeom>
          <a:solidFill>
            <a:srgbClr val="DCEBE2"/>
          </a:solidFill>
          <a:ln w="9525">
            <a:solidFill>
              <a:srgbClr val="DCE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7379" y="2156521"/>
            <a:ext cx="368686" cy="36868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35498" y="1975104"/>
            <a:ext cx="2143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4000" dirty="0"/>
          </a:p>
        </p:txBody>
      </p:sp>
      <p:sp>
        <p:nvSpPr>
          <p:cNvPr id="14" name="Text 10"/>
          <p:cNvSpPr txBox="1"/>
          <p:nvPr/>
        </p:nvSpPr>
        <p:spPr>
          <a:xfrm>
            <a:off x="4612538" y="2852928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technology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612538" y="3346704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public sources, a re-runnable pipeline, and point-in-time publication dates. Where most of my semester goes.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27797" y="1737360"/>
            <a:ext cx="3515258" cy="2971800"/>
          </a:xfrm>
          <a:prstGeom prst="roundRect">
            <a:avLst>
              <a:gd name="adj" fmla="val 2462"/>
            </a:avLst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402117" y="2011680"/>
            <a:ext cx="658368" cy="658368"/>
          </a:xfrm>
          <a:prstGeom prst="ellipse">
            <a:avLst/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6958" y="2156521"/>
            <a:ext cx="368686" cy="36868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225077" y="1975104"/>
            <a:ext cx="2143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1A6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4000" dirty="0"/>
          </a:p>
        </p:txBody>
      </p:sp>
      <p:sp>
        <p:nvSpPr>
          <p:cNvPr id="20" name="Text 15"/>
          <p:cNvSpPr txBox="1"/>
          <p:nvPr/>
        </p:nvSpPr>
        <p:spPr>
          <a:xfrm>
            <a:off x="8402117" y="2852928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and process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402117" y="3346704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F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Traders, procurement and insurers: whose decision changes, and when. A transparent score they can audit beats a black box they cannot.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777240" y="5138928"/>
            <a:ext cx="640080" cy="640080"/>
          </a:xfrm>
          <a:prstGeom prst="ellipse">
            <a:avLst/>
          </a:prstGeom>
          <a:solidFill>
            <a:srgbClr val="DCEBE2"/>
          </a:solidFill>
          <a:ln w="9525">
            <a:solidFill>
              <a:srgbClr val="DCE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058" y="5279746"/>
            <a:ext cx="358445" cy="35844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600200" y="5029200"/>
            <a:ext cx="9768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early checks say the market may already price the weather. 10-20-70 says that was only the 10%.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630936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BCG: value from AI comes roughly 10% from algorithms, 20% from data and technology, and 70% from people and process.</a:t>
            </a:r>
            <a:endParaRPr lang="en-US" sz="10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6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needs to know when weather becomes a supply shock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29968"/>
            <a:ext cx="731520" cy="731520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5" y="2205533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029968"/>
            <a:ext cx="2097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traders and funds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risk and trading signals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38218" y="173736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12538" y="2029968"/>
            <a:ext cx="731520" cy="731520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103" y="2205533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26938" y="2029968"/>
            <a:ext cx="2097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and beverage manufacturers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costs and hedging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27797" y="173736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02117" y="2029968"/>
            <a:ext cx="731520" cy="731520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682" y="2205533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316517" y="2029968"/>
            <a:ext cx="2097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Agribusiness and logistics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29260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Grain handlers, barge and rail operators, ports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22960" y="4178808"/>
            <a:ext cx="731520" cy="731520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525" y="4354373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37360" y="4178808"/>
            <a:ext cx="2097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and cooperatives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07492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Hedging and marketing decisions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338218" y="388620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612538" y="4178808"/>
            <a:ext cx="731520" cy="731520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8103" y="4354373"/>
            <a:ext cx="380390" cy="38039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526938" y="4178808"/>
            <a:ext cx="2097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Insurers and lenders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612538" y="507492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insurance and agricultural credit risk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8127797" y="388620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402117" y="4178808"/>
            <a:ext cx="731520" cy="731520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7682" y="4354373"/>
            <a:ext cx="380390" cy="38039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316517" y="4178808"/>
            <a:ext cx="2097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Policymakers and consumers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402117" y="507492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security and food prices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58704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if traders already price the weather, a validated risk score helps everyone who does not trade.</a:t>
            </a:r>
            <a:endParaRPr lang="en-US" sz="15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6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weather, to a validated risk score, to price tests — phases follow CRISP-ML(Q)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566642" y="2148840"/>
            <a:ext cx="9058412" cy="0"/>
          </a:xfrm>
          <a:prstGeom prst="line">
            <a:avLst/>
          </a:prstGeom>
          <a:noFill/>
          <a:ln w="25400">
            <a:solidFill>
              <a:srgbClr val="D6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92322" y="1874520"/>
            <a:ext cx="548640" cy="548640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292322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2036003" cy="2743200"/>
          </a:xfrm>
          <a:prstGeom prst="roundRect">
            <a:avLst>
              <a:gd name="adj" fmla="val 3593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8346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3429000"/>
            <a:ext cx="16245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exposure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023360"/>
            <a:ext cx="162452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locations by county production from USDA, replacing equal weights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556925" y="1874520"/>
            <a:ext cx="548640" cy="548640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3556925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813243" y="2651760"/>
            <a:ext cx="2036003" cy="2743200"/>
          </a:xfrm>
          <a:prstGeom prst="roundRect">
            <a:avLst>
              <a:gd name="adj" fmla="val 3593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843" y="28346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041843" y="3429000"/>
            <a:ext cx="16245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stress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041843" y="4023360"/>
            <a:ext cx="162452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above crop thresholds, rainfall and drought in each crop’s sensitive window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821528" y="1874520"/>
            <a:ext cx="548640" cy="548640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582152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077846" y="2651760"/>
            <a:ext cx="2036003" cy="2743200"/>
          </a:xfrm>
          <a:prstGeom prst="roundRect">
            <a:avLst>
              <a:gd name="adj" fmla="val 3593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6446" y="283464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306446" y="3429000"/>
            <a:ext cx="16245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risk score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5306446" y="4023360"/>
            <a:ext cx="162452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it against crop yields before connecting it to prices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086131" y="1874520"/>
            <a:ext cx="548640" cy="548640"/>
          </a:xfrm>
          <a:prstGeom prst="ellipse">
            <a:avLst/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 txBox="1"/>
          <p:nvPr/>
        </p:nvSpPr>
        <p:spPr>
          <a:xfrm>
            <a:off x="8086131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7342449" y="2651760"/>
            <a:ext cx="2036003" cy="2743200"/>
          </a:xfrm>
          <a:prstGeom prst="roundRect">
            <a:avLst>
              <a:gd name="adj" fmla="val 3593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1049" y="283464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571049" y="3429000"/>
            <a:ext cx="16245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to prices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7571049" y="4023360"/>
            <a:ext cx="162452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Lead-lag regressions and event studies, controlling for seasonality, USDA reports and contract rolls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10350734" y="1874520"/>
            <a:ext cx="548640" cy="548640"/>
          </a:xfrm>
          <a:prstGeom prst="ellipse">
            <a:avLst/>
          </a:prstGeom>
          <a:solidFill>
            <a:srgbClr val="AEB7B2"/>
          </a:solidFill>
          <a:ln w="9525">
            <a:solidFill>
              <a:srgbClr val="AEB7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 txBox="1"/>
          <p:nvPr/>
        </p:nvSpPr>
        <p:spPr>
          <a:xfrm>
            <a:off x="10350734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Shape 25"/>
          <p:cNvSpPr/>
          <p:nvPr/>
        </p:nvSpPr>
        <p:spPr>
          <a:xfrm>
            <a:off x="9607052" y="2651760"/>
            <a:ext cx="2036003" cy="2743200"/>
          </a:xfrm>
          <a:prstGeom prst="roundRect">
            <a:avLst>
              <a:gd name="adj" fmla="val 3593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35652" y="2834640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835652" y="3429000"/>
            <a:ext cx="16245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</a:t>
            </a:r>
            <a:endParaRPr lang="en-US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9835652" y="4023360"/>
            <a:ext cx="162452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Forecasts, cocoa and coffee, and agribusiness stocks, as time allows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548640" y="55961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2057400" y="5641848"/>
            <a:ext cx="365760" cy="365760"/>
          </a:xfrm>
          <a:prstGeom prst="ellipse">
            <a:avLst/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2498" y="5736946"/>
            <a:ext cx="175565" cy="175565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2514600" y="55961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Point-in-time: data as of its publication date</a:t>
            </a:r>
            <a:endParaRPr lang="en-US" sz="1300" dirty="0"/>
          </a:p>
        </p:txBody>
      </p:sp>
      <p:sp>
        <p:nvSpPr>
          <p:cNvPr id="39" name="Shape 31"/>
          <p:cNvSpPr/>
          <p:nvPr/>
        </p:nvSpPr>
        <p:spPr>
          <a:xfrm>
            <a:off x="5239512" y="5641848"/>
            <a:ext cx="365760" cy="365760"/>
          </a:xfrm>
          <a:prstGeom prst="ellipse">
            <a:avLst/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610" y="5736946"/>
            <a:ext cx="175565" cy="17556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5696712" y="55961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Out-of-sample, expanding-window tests</a:t>
            </a:r>
            <a:endParaRPr lang="en-US" sz="1300" dirty="0"/>
          </a:p>
        </p:txBody>
      </p:sp>
      <p:sp>
        <p:nvSpPr>
          <p:cNvPr id="42" name="Shape 33"/>
          <p:cNvSpPr/>
          <p:nvPr/>
        </p:nvSpPr>
        <p:spPr>
          <a:xfrm>
            <a:off x="8421624" y="5641848"/>
            <a:ext cx="365760" cy="365760"/>
          </a:xfrm>
          <a:prstGeom prst="ellipse">
            <a:avLst/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6722" y="5736946"/>
            <a:ext cx="175565" cy="175565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8878824" y="55961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result re-run without 2012</a:t>
            </a:r>
            <a:endParaRPr lang="en-US" sz="13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6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Semester plan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first, then the score, then the price tests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474720" y="1783080"/>
            <a:ext cx="15259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00673" y="1737360"/>
            <a:ext cx="2782620" cy="4297680"/>
          </a:xfrm>
          <a:prstGeom prst="rect">
            <a:avLst/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00673" y="1783080"/>
            <a:ext cx="2782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83292" y="1783080"/>
            <a:ext cx="2692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476150" y="1737360"/>
            <a:ext cx="1166905" cy="4297680"/>
          </a:xfrm>
          <a:prstGeom prst="rect">
            <a:avLst/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476150" y="1783080"/>
            <a:ext cx="11669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19456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Automated, re-runnable ingestion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4244" y="2350008"/>
            <a:ext cx="1615715" cy="329184"/>
          </a:xfrm>
          <a:prstGeom prst="roundRect">
            <a:avLst>
              <a:gd name="adj" fmla="val 22222"/>
            </a:avLst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283464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 and stress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County weights, heat, drought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31387" y="2990088"/>
            <a:ext cx="2423572" cy="329184"/>
          </a:xfrm>
          <a:prstGeom prst="roundRect">
            <a:avLst>
              <a:gd name="adj" fmla="val 22222"/>
            </a:avLst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48640" y="347472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it and validate on yields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16387" y="3630168"/>
            <a:ext cx="1795239" cy="329184"/>
          </a:xfrm>
          <a:prstGeom prst="roundRect">
            <a:avLst>
              <a:gd name="adj" fmla="val 22222"/>
            </a:avLst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48640" y="411480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tests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Lead-lag and event studies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73054" y="4270248"/>
            <a:ext cx="2423572" cy="329184"/>
          </a:xfrm>
          <a:prstGeom prst="roundRect">
            <a:avLst>
              <a:gd name="adj" fmla="val 22222"/>
            </a:avLst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48640" y="4754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Forecasts, cocoa, coffee, stocks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29721" y="4910328"/>
            <a:ext cx="1795239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2E6B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48640" y="539496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Write-up and final presentation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386388" y="5550408"/>
            <a:ext cx="987381" cy="329184"/>
          </a:xfrm>
          <a:prstGeom prst="roundRect">
            <a:avLst>
              <a:gd name="adj" fmla="val 22222"/>
            </a:avLst>
          </a:prstGeom>
          <a:solidFill>
            <a:srgbClr val="E1A624"/>
          </a:solidFill>
          <a:ln w="9525">
            <a:solidFill>
              <a:srgbClr val="E1A6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564482" y="2148840"/>
            <a:ext cx="0" cy="3886200"/>
          </a:xfrm>
          <a:prstGeom prst="line">
            <a:avLst/>
          </a:prstGeom>
          <a:noFill/>
          <a:ln w="19050">
            <a:solidFill>
              <a:srgbClr val="C2502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3637634" y="5687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5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6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and mitigations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go wrong, and why the project still delivers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E6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F9E7E2"/>
          </a:solidFill>
          <a:ln w="9525">
            <a:solidFill>
              <a:srgbClr val="F9E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945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2011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already knows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2249424"/>
            <a:ext cx="292608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760720" y="2011680"/>
            <a:ext cx="5882335" cy="731520"/>
          </a:xfrm>
          <a:prstGeom prst="roundRect">
            <a:avLst>
              <a:gd name="adj" fmla="val 10000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221284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510528" y="2011680"/>
            <a:ext cx="49496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early the market knows is itself a finding; test forecasts and slower markets like cocoa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2852928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F9E7E2"/>
          </a:solidFill>
          <a:ln w="9525">
            <a:solidFill>
              <a:srgbClr val="F9E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35808"/>
            <a:ext cx="365760" cy="3657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28529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extreme year dominates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3090672"/>
            <a:ext cx="292608" cy="256032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5760720" y="2852928"/>
            <a:ext cx="5882335" cy="731520"/>
          </a:xfrm>
          <a:prstGeom prst="roundRect">
            <a:avLst>
              <a:gd name="adj" fmla="val 10000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3054096"/>
            <a:ext cx="329184" cy="329184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510528" y="2852928"/>
            <a:ext cx="49496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every result with and without 2012, and add crops and regions for more events</a:t>
            </a:r>
            <a:endParaRPr lang="en-US" sz="1400" dirty="0"/>
          </a:p>
        </p:txBody>
      </p:sp>
      <p:sp>
        <p:nvSpPr>
          <p:cNvPr id="20" name="Shape 12"/>
          <p:cNvSpPr/>
          <p:nvPr/>
        </p:nvSpPr>
        <p:spPr>
          <a:xfrm>
            <a:off x="548640" y="3694176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F9E7E2"/>
          </a:solidFill>
          <a:ln w="9525">
            <a:solidFill>
              <a:srgbClr val="F9E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77056"/>
            <a:ext cx="365760" cy="36576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325880" y="3694176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weather lags forecasts</a:t>
            </a:r>
            <a:endParaRPr lang="en-US" sz="16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3931920"/>
            <a:ext cx="292608" cy="256032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5760720" y="3694176"/>
            <a:ext cx="5882335" cy="731520"/>
          </a:xfrm>
          <a:prstGeom prst="roundRect">
            <a:avLst>
              <a:gd name="adj" fmla="val 10000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3895344"/>
            <a:ext cx="329184" cy="329184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6510528" y="3694176"/>
            <a:ext cx="49496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publication lags from the start; add forecast data as an extension</a:t>
            </a:r>
            <a:endParaRPr lang="en-US" sz="1400" dirty="0"/>
          </a:p>
        </p:txBody>
      </p:sp>
      <p:sp>
        <p:nvSpPr>
          <p:cNvPr id="27" name="Shape 16"/>
          <p:cNvSpPr/>
          <p:nvPr/>
        </p:nvSpPr>
        <p:spPr>
          <a:xfrm>
            <a:off x="548640" y="4535424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F9E7E2"/>
          </a:solidFill>
          <a:ln w="9525">
            <a:solidFill>
              <a:srgbClr val="F9E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718304"/>
            <a:ext cx="365760" cy="365760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1325880" y="453542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Futures prices jump at contract rolls</a:t>
            </a:r>
            <a:endParaRPr lang="en-US" sz="16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4773168"/>
            <a:ext cx="292608" cy="256032"/>
          </a:xfrm>
          <a:prstGeom prst="rect">
            <a:avLst/>
          </a:prstGeom>
        </p:spPr>
      </p:pic>
      <p:sp>
        <p:nvSpPr>
          <p:cNvPr id="31" name="Shape 18"/>
          <p:cNvSpPr/>
          <p:nvPr/>
        </p:nvSpPr>
        <p:spPr>
          <a:xfrm>
            <a:off x="5760720" y="4535424"/>
            <a:ext cx="5882335" cy="731520"/>
          </a:xfrm>
          <a:prstGeom prst="roundRect">
            <a:avLst>
              <a:gd name="adj" fmla="val 10000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4736592"/>
            <a:ext cx="329184" cy="329184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6510528" y="4535424"/>
            <a:ext cx="49496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 against the CORN fund and control for roll dates</a:t>
            </a:r>
            <a:endParaRPr lang="en-US" sz="1400" dirty="0"/>
          </a:p>
        </p:txBody>
      </p:sp>
      <p:sp>
        <p:nvSpPr>
          <p:cNvPr id="34" name="Shape 20"/>
          <p:cNvSpPr/>
          <p:nvPr/>
        </p:nvSpPr>
        <p:spPr>
          <a:xfrm>
            <a:off x="548640" y="5376672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F9E7E2"/>
          </a:solidFill>
          <a:ln w="9525">
            <a:solidFill>
              <a:srgbClr val="F9E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59552"/>
            <a:ext cx="365760" cy="365760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1325880" y="537667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points stand in for the corn belt</a:t>
            </a:r>
            <a:endParaRPr lang="en-US" sz="1600" dirty="0"/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5614416"/>
            <a:ext cx="292608" cy="256032"/>
          </a:xfrm>
          <a:prstGeom prst="rect">
            <a:avLst/>
          </a:prstGeom>
        </p:spPr>
      </p:pic>
      <p:sp>
        <p:nvSpPr>
          <p:cNvPr id="38" name="Shape 22"/>
          <p:cNvSpPr/>
          <p:nvPr/>
        </p:nvSpPr>
        <p:spPr>
          <a:xfrm>
            <a:off x="5760720" y="5376672"/>
            <a:ext cx="5882335" cy="731520"/>
          </a:xfrm>
          <a:prstGeom prst="roundRect">
            <a:avLst>
              <a:gd name="adj" fmla="val 10000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5577840"/>
            <a:ext cx="329184" cy="329184"/>
          </a:xfrm>
          <a:prstGeom prst="rect">
            <a:avLst/>
          </a:prstGeom>
        </p:spPr>
      </p:pic>
      <p:sp>
        <p:nvSpPr>
          <p:cNvPr id="40" name="Text 23"/>
          <p:cNvSpPr txBox="1"/>
          <p:nvPr/>
        </p:nvSpPr>
        <p:spPr>
          <a:xfrm>
            <a:off x="6510528" y="5376672"/>
            <a:ext cx="49496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counties by USDA production data</a:t>
            </a:r>
            <a:endParaRPr lang="en-US" sz="14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A6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1A6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6675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futures market price weather before the data does?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863840" y="1691640"/>
            <a:ext cx="777240" cy="777240"/>
          </a:xfrm>
          <a:prstGeom prst="ellipse">
            <a:avLst/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0378" y="187817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823960" y="1645920"/>
            <a:ext cx="2819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F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stress, validated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F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crop yields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863840" y="2880360"/>
            <a:ext cx="777240" cy="777240"/>
          </a:xfrm>
          <a:prstGeom prst="ellipse">
            <a:avLst/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0378" y="3066898"/>
            <a:ext cx="404165" cy="4041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823960" y="2834640"/>
            <a:ext cx="2819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F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moves, against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F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 dates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863840" y="4069080"/>
            <a:ext cx="777240" cy="777240"/>
          </a:xfrm>
          <a:prstGeom prst="ellipse">
            <a:avLst/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378" y="4255618"/>
            <a:ext cx="404165" cy="40416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823960" y="4023360"/>
            <a:ext cx="2819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F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a risk score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F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anything new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45720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1A6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3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458968"/>
            <a:ext cx="292608" cy="29260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60120" y="544068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github.com/haydn-s/climate-futures-pricing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BFD3C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FBC96F01-E995-47B0-0CE7-9FDF837BC2BA}"/>
              </a:ext>
            </a:extLst>
          </p:cNvPr>
          <p:cNvSpPr txBox="1"/>
          <p:nvPr/>
        </p:nvSpPr>
        <p:spPr>
          <a:xfrm>
            <a:off x="548640" y="625449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BFD3C8"/>
                </a:solidFill>
                <a:latin typeface="Arial" pitchFamily="34" charset="0"/>
                <a:cs typeface="Arial" pitchFamily="34" charset="-120"/>
              </a:rPr>
              <a:t>Slide formatting and graphics were generated using Claude.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2428</Words>
  <Application>Microsoft Macintosh PowerPoint</Application>
  <PresentationFormat>Widescreen</PresentationFormat>
  <Paragraphs>243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 Futures Pricing</dc:title>
  <dc:subject>Duke AIPI 590 project proposal</dc:subject>
  <dc:creator>Haydn Stucker</dc:creator>
  <cp:lastModifiedBy>Haydn Stucker</cp:lastModifiedBy>
  <cp:revision>6</cp:revision>
  <dcterms:created xsi:type="dcterms:W3CDTF">2026-09-16T03:04:12Z</dcterms:created>
  <dcterms:modified xsi:type="dcterms:W3CDTF">2026-09-16T19:39:11Z</dcterms:modified>
</cp:coreProperties>
</file>