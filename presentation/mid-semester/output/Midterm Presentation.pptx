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72734"/>
  </p:normalViewPr>
  <p:slideViewPr>
    <p:cSldViewPr snapToGrid="0">
      <p:cViewPr varScale="1">
        <p:scale>
          <a:sx n="90" d="100"/>
          <a:sy n="90" d="100"/>
        </p:scale>
        <p:origin x="1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All years</c:v>
          </c:tx>
          <c:spPr>
            <a:solidFill>
              <a:srgbClr val="2E6B4F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D272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Five weather points</c:v>
                </c:pt>
                <c:pt idx="1">
                  <c:v>County averages</c:v>
                </c:pt>
                <c:pt idx="2">
                  <c:v>County averages + drought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0.30399999999999999</c:v>
                </c:pt>
                <c:pt idx="1">
                  <c:v>0.61299999999999999</c:v>
                </c:pt>
                <c:pt idx="2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D-4C4C-942C-4488239B670D}"/>
            </c:ext>
          </c:extLst>
        </c:ser>
        <c:ser>
          <c:idx val="1"/>
          <c:order val="1"/>
          <c:tx>
            <c:v>Excluding 2012</c:v>
          </c:tx>
          <c:spPr>
            <a:solidFill>
              <a:srgbClr val="E1A62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D272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Five weather points</c:v>
                </c:pt>
                <c:pt idx="1">
                  <c:v>County averages</c:v>
                </c:pt>
                <c:pt idx="2">
                  <c:v>County averages + drought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0.16600000000000001</c:v>
                </c:pt>
                <c:pt idx="1">
                  <c:v>0.40899999999999997</c:v>
                </c:pt>
                <c:pt idx="2">
                  <c:v>0.46400000000000002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9D-4C4C-942C-4488239B67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6DDD8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ln w="9525">
            <a:solidFill>
              <a:srgbClr val="D6DDD8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D2723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Net return</c:v>
          </c:tx>
          <c:spPr>
            <a:solidFill>
              <a:srgbClr val="AEB7B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C2502D"/>
              </a:solidFill>
            </c:spPr>
            <c:extLst>
              <c:ext xmlns:c16="http://schemas.microsoft.com/office/drawing/2014/chart" uri="{C3380CC4-5D6E-409C-BE32-E72D297353CC}">
                <c16:uniqueId val="{00000001-F1A2-9947-B0BD-9D25620FD61A}"/>
              </c:ext>
            </c:extLst>
          </c:dPt>
          <c:dPt>
            <c:idx val="1"/>
            <c:invertIfNegative val="0"/>
            <c:bubble3D val="0"/>
            <c:spPr>
              <a:solidFill>
                <a:srgbClr val="C2502D"/>
              </a:solidFill>
            </c:spPr>
            <c:extLst>
              <c:ext xmlns:c16="http://schemas.microsoft.com/office/drawing/2014/chart" uri="{C3380CC4-5D6E-409C-BE32-E72D297353CC}">
                <c16:uniqueId val="{00000003-F1A2-9947-B0BD-9D25620FD61A}"/>
              </c:ext>
            </c:extLst>
          </c:dPt>
          <c:dPt>
            <c:idx val="2"/>
            <c:invertIfNegative val="0"/>
            <c:bubble3D val="0"/>
            <c:spPr>
              <a:solidFill>
                <a:srgbClr val="E1A624"/>
              </a:solidFill>
            </c:spPr>
            <c:extLst>
              <c:ext xmlns:c16="http://schemas.microsoft.com/office/drawing/2014/chart" uri="{C3380CC4-5D6E-409C-BE32-E72D297353CC}">
                <c16:uniqueId val="{00000005-F1A2-9947-B0BD-9D25620FD61A}"/>
              </c:ext>
            </c:extLst>
          </c:dPt>
          <c:cat>
            <c:strRef>
              <c:f>'Chart Data'!$A$2:$A$4</c:f>
              <c:strCache>
                <c:ptCount val="3"/>
                <c:pt idx="0">
                  <c:v>​</c:v>
                </c:pt>
                <c:pt idx="1">
                  <c:v>​​</c:v>
                </c:pt>
                <c:pt idx="2">
                  <c:v>​​​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-0.52700000000000002</c:v>
                </c:pt>
                <c:pt idx="1">
                  <c:v>-7.2999999999999995E-2</c:v>
                </c:pt>
                <c:pt idx="2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A2-9947-B0BD-9D25620FD6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3E8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6DDD8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one"/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0:20  |  leave by 0:20</a:t>
            </a:r>
          </a:p>
          <a:p>
            <a:endParaRPr/>
          </a:p>
          <a:p>
            <a:r>
              <a:t>- Open with the project question: can point-in-time climate data measure crop supply shocks and support a repeatable buy or sell signal?</a:t>
            </a:r>
          </a:p>
          <a:p>
            <a:r>
              <a:t>- State the conclusion immediately: the supply-risk model works, while the trading models did not survive validation.</a:t>
            </a:r>
          </a:p>
          <a:p>
            <a:r>
              <a:t>- Preview the structure: progress, data, models, results, risks and next steps.</a:t>
            </a:r>
          </a:p>
          <a:p>
            <a:endParaRPr/>
          </a:p>
          <a:p>
            <a:r>
              <a:t>Sources: README.md; proposal deck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  |  leave by 1:05</a:t>
            </a:r>
          </a:p>
          <a:p>
            <a:endParaRPr/>
          </a:p>
          <a:p>
            <a:r>
              <a:t>- Restate the original goal as two linked tests.</a:t>
            </a:r>
          </a:p>
          <a:p>
            <a:r>
              <a:t>- The physical test asks whether public climate data can identify real crop supply shocks.</a:t>
            </a:r>
          </a:p>
          <a:p>
            <a:r>
              <a:t>- The market test asks whether those signals arrive early enough to improve commodity return predictions beyond market-only and simple-rule baselines.</a:t>
            </a:r>
          </a:p>
          <a:p>
            <a:r>
              <a:t>- The intended impact is better crop-risk measurement and an honest assessment of whether public data adds market-timing value.</a:t>
            </a:r>
          </a:p>
          <a:p>
            <a:r>
              <a:t>- Keep the two tests separate: a failed trading signal does not erase a useful supply-risk result.</a:t>
            </a:r>
          </a:p>
          <a:p>
            <a:endParaRPr/>
          </a:p>
          <a:p>
            <a:r>
              <a:t>Sources: README.md, executive summary and research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  |  leave by 1:50</a:t>
            </a:r>
          </a:p>
          <a:p>
            <a:endParaRPr/>
          </a:p>
          <a:p>
            <a:r>
              <a:t>- Summarize the progress from left to right: data pipeline, physical model, market tests, stress tests and decision.</a:t>
            </a:r>
          </a:p>
          <a:p>
            <a:r>
              <a:t>- The largest change is methodological: exploratory correlations became dated-contract tests with exact information cutoffs and realistic costs.</a:t>
            </a:r>
          </a:p>
          <a:p>
            <a:r>
              <a:t>- The analysis expanded from corn to cocoa and coffee, with a fixed validation gate for each market.</a:t>
            </a:r>
          </a:p>
          <a:p>
            <a:r>
              <a:t>- The original trading hypothesis failed, but the project now has stronger and more defensible evidence than the proposal stage.</a:t>
            </a:r>
          </a:p>
          <a:p>
            <a:endParaRPr/>
          </a:p>
          <a:p>
            <a:r>
              <a:t>Sources: README.md development checklist; Git history through PR #8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  |  leave by 2:45</a:t>
            </a:r>
          </a:p>
          <a:p>
            <a:endParaRPr/>
          </a:p>
          <a:p>
            <a:r>
              <a:t>- Identify the four source groups: public climate observations and forecasts, county crop outcomes, dated LSEG futures contracts and the combined point-in-time panel.</a:t>
            </a:r>
          </a:p>
          <a:p>
            <a:r>
              <a:t>- The central preparation rule is point-in-time availability: each feature appears only after it would have been known in real time.</a:t>
            </a:r>
          </a:p>
          <a:p>
            <a:r>
              <a:t>- Public releases retain their actual timestamps, and market labels begin at the first contract open after publication.</a:t>
            </a:r>
          </a:p>
          <a:p>
            <a:r>
              <a:t>- Missing crop stages remain missing. Any imputation is learned only inside the training window to prevent leakage.</a:t>
            </a:r>
          </a:p>
          <a:p>
            <a:r>
              <a:t>- Dated LSEG contracts remove continuous-price roll artifacts and support next-open execution with modeled transaction costs.</a:t>
            </a:r>
          </a:p>
          <a:p>
            <a:r>
              <a:t>- Limited history and uneven extreme events remain constraints, so later slides use time-based validation and sensitivity tests.</a:t>
            </a:r>
          </a:p>
          <a:p>
            <a:endParaRPr/>
          </a:p>
          <a:p>
            <a:r>
              <a:t>Sources: docs/data_contracts.md; docs/gefs_forecast_revisions.md; docs/crop_progress_releases.md;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0:50  |  leave by 3:35</a:t>
            </a:r>
          </a:p>
          <a:p>
            <a:endParaRPr/>
          </a:p>
          <a:p>
            <a:r>
              <a:t>- Define the main baseline: a market-only model using recent returns, volatility, curve shape and seasonality, with the same dates and costs as every climate model.</a:t>
            </a:r>
          </a:p>
          <a:p>
            <a:r>
              <a:t>- Add simple-rule baselines such as momentum and fixed weather-deterioration rules so the climate models must beat more than a zero-return benchmark.</a:t>
            </a:r>
          </a:p>
          <a:p>
            <a:r>
              <a:t>- Candidate climate features include observed heat, rainfall and drought, operational forecast revisions and scheduled USDA releases.</a:t>
            </a:r>
          </a:p>
          <a:p>
            <a:r>
              <a:t>- The model families are deliberately compact: Ridge regression, logistic direction models and shallow boosted trees.</a:t>
            </a:r>
          </a:p>
          <a:p>
            <a:r>
              <a:t>- Use expanding time splits, target embargoes and non-overlapping trades. Freeze selection before the final period so the model cannot be repaired after seeing the result.</a:t>
            </a:r>
          </a:p>
          <a:p>
            <a:endParaRPr/>
          </a:p>
          <a:p>
            <a:r>
              <a:t>Sources: analysis/ml_signal_baseline_report.md; config/*validation.yaml; src/pipeline/*validation.py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  |  leave by 4:30</a:t>
            </a:r>
          </a:p>
          <a:p>
            <a:endParaRPr/>
          </a:p>
          <a:p>
            <a:r>
              <a:t>- Introduce this as the strongest result in the project: climate and drought data predict held-out county yield shortfalls.</a:t>
            </a:r>
          </a:p>
          <a:p>
            <a:r>
              <a:t>- Define the metric: held-out R-squared is the share of variation in unseen yield shortfalls explained by the model. Higher is better, and zero means no improvement over predicting the average.</a:t>
            </a:r>
          </a:p>
          <a:p>
            <a:r>
              <a:t>- The proposal used five representative locations and achieved 0.30. County coverage raised held-out R-squared to 0.61.</a:t>
            </a:r>
          </a:p>
          <a:p>
            <a:r>
              <a:t>- Adding drought information raised the score to 0.73.</a:t>
            </a:r>
          </a:p>
          <a:p>
            <a:r>
              <a:t>- Removing the exceptional 2012 drought still produced 0.46, so the result is not driven by one extreme year.</a:t>
            </a:r>
          </a:p>
          <a:p>
            <a:r>
              <a:t>- Conclude that the physical measurement generalizes well enough to support the final supply-risk model.</a:t>
            </a:r>
          </a:p>
          <a:p>
            <a:endParaRPr/>
          </a:p>
          <a:p>
            <a:r>
              <a:t>Sources: README.md, Results section; analysis/corn_yield_model.py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1:20  |  leave by 5:50</a:t>
            </a:r>
          </a:p>
          <a:p>
            <a:endParaRPr/>
          </a:p>
          <a:p>
            <a:r>
              <a:t>- State the market conclusion clearly: no tested buy or sell model is ready for use.</a:t>
            </a:r>
          </a:p>
          <a:p>
            <a:r>
              <a:t>- The operational GEFS forecast model looked strong in development at plus 42 percent net return and a 1.57 Sharpe ratio.</a:t>
            </a:r>
          </a:p>
          <a:p>
            <a:r>
              <a:t>- Define the main metrics: net return subtracts modeled trading costs; Sharpe compares average return with its volatility; drawdown measures the largest peak-to-trough loss; positive years measure consistency.</a:t>
            </a:r>
          </a:p>
          <a:p>
            <a:r>
              <a:t>- After the specification was frozen, the 2026 GEFS holdout lost 7.3 percent, produced a negative Sharpe ratio and trailed the market-only and fixed-rule baselines.</a:t>
            </a:r>
          </a:p>
          <a:p>
            <a:r>
              <a:t>- The USDA progress model failed before holdout: negative 52.7 percent in development and only three positive years out of nine, so its 2026 holdout remains sealed.</a:t>
            </a:r>
          </a:p>
          <a:p>
            <a:r>
              <a:t>- Cocoa and coffee also failed their fixed gates. The decision also checks doubled costs and placebo timing, so adding more algorithms now would become specification search rather than validation.</a:t>
            </a:r>
          </a:p>
          <a:p>
            <a:endParaRPr/>
          </a:p>
          <a:p>
            <a:r>
              <a:t>Sources: analysis/gefs_corn_validation_report.md; analysis/gefs_corn_holdout_report.md; analysis/nass_corn_progress_validation_report.md; analysis/cocoa_fixed_validation_report.md; analysis/coffee_frost_curve_validation_report.md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  |  leave by 6:35</a:t>
            </a:r>
          </a:p>
          <a:p>
            <a:endParaRPr/>
          </a:p>
          <a:p>
            <a:r>
              <a:t>- Identify the largest research risk: repeated modeling choices can create false confidence by finding patterns that do not repeat.</a:t>
            </a:r>
          </a:p>
          <a:p>
            <a:r>
              <a:t>- Mitigate that risk with frozen candidate sets, predefined gates and sealed holdouts that produce a visible pass or fail decision.</a:t>
            </a:r>
          </a:p>
          <a:p>
            <a:r>
              <a:t>- Sparse and uneven extreme-weather events limit what any single market can prove, so use time-based validation and report uncertainty and null results.</a:t>
            </a:r>
          </a:p>
          <a:p>
            <a:r>
              <a:t>- Public observations may arrive after prices move, so retain publication timestamps and test operational forecasts rather than revised historical data.</a:t>
            </a:r>
          </a:p>
          <a:p>
            <a:r>
              <a:t>- The whitepaper scope prioritizes a defensible conclusion and reproducible evidence over product adoption.</a:t>
            </a:r>
          </a:p>
          <a:p>
            <a:endParaRPr/>
          </a:p>
          <a:p>
            <a:r>
              <a:t>Sources: config validation protocols; README.md, evidence hierarchy and limitations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  |  leave by 7:00</a:t>
            </a:r>
          </a:p>
          <a:p>
            <a:endParaRPr/>
          </a:p>
          <a:p>
            <a:r>
              <a:t>- Close with the pivot: the final deliverable focuses on the crop supply-risk result that generalized.</a:t>
            </a:r>
          </a:p>
          <a:p>
            <a:r>
              <a:t>- Next, calibrate yield-risk probabilities, package the reproducible pipeline and model card, and write the cross-market comparison.</a:t>
            </a:r>
          </a:p>
          <a:p>
            <a:r>
              <a:t>- The negative trading result remains in the whitepaper as evidence of where public data stopped adding value.</a:t>
            </a:r>
          </a:p>
          <a:p>
            <a:r>
              <a:t>- Invite questions and preserve three minutes for Q-and-A.</a:t>
            </a:r>
          </a:p>
          <a:p>
            <a:endParaRPr/>
          </a:p>
          <a:p>
            <a:r>
              <a:t>Sources: README.md current conclusions and next-phase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BA1483-8F7C-4935-BCCA-913C08C4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2A11F3A-E8A6-4819-A254-127079B8D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D542C02-B8A3-413B-A39C-5EE7A82E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3D11384-6B0F-4C8D-B993-0C89816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1317E45-387A-46F2-B584-0EF289B7A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B055FE4-6DB1-47FB-BE65-75F20D0D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B6357BA-E1EA-48D5-A0AB-56B8C6C2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12A9343-DE90-407F-B07E-97FBC6B9DA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D3E910-B6E6-4C47-A0BA-B1F8E6C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E17C5EF-A40D-429A-BC2B-98FFB223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A043EF-02E2-478C-B112-08734AAB2F24}"/>
              </a:ext>
            </a:extLst>
          </p:cNvPr>
          <p:cNvSpPr>
            <a:spLocks noGrp="1"/>
          </p:cNvSpPr>
          <p:nvPr/>
        </p:nvSpPr>
        <p:spPr>
          <a:xfrm>
            <a:off x="552450" y="1314450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1A624"/>
                </a:solidFill>
                <a:latin typeface="Arial"/>
                <a:ea typeface="Arial"/>
                <a:cs typeface="Arial"/>
              </a:rPr>
              <a:t>DUKE AIPI 590  ·  ALTERNATIVE DATA  ·  MID-SEMESTER UPDATE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5EDB0-D136-47C5-8CE9-D12FDD27C9AB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72390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94000"/>
              </a:lnSpc>
              <a:buNone/>
              <a:def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Climate Impacts on</a:t>
            </a:r>
          </a:p>
          <a:p>
            <a:pPr algn="l">
              <a:lnSpc>
                <a:spcPct val="94000"/>
              </a:lnSpc>
              <a:buNone/>
              <a:def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Futures Pricing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5EADF-DFAF-468B-A79D-DC955F6D2D88}"/>
              </a:ext>
            </a:extLst>
          </p:cNvPr>
          <p:cNvSpPr>
            <a:spLocks noGrp="1"/>
          </p:cNvSpPr>
          <p:nvPr/>
        </p:nvSpPr>
        <p:spPr>
          <a:xfrm>
            <a:off x="552450" y="5067300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Haydn Stucker  ·  October 14, 2026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C47C02-7581-42E0-9F12-CA01FFF97D68}"/>
              </a:ext>
            </a:extLst>
          </p:cNvPr>
          <p:cNvSpPr>
            <a:spLocks noGrp="1"/>
          </p:cNvSpPr>
          <p:nvPr/>
        </p:nvSpPr>
        <p:spPr>
          <a:xfrm>
            <a:off x="8572500" y="1409700"/>
            <a:ext cx="2743200" cy="2743200"/>
          </a:xfrm>
          <a:prstGeom prst="ellipse">
            <a:avLst/>
          </a:prstGeom>
          <a:solidFill>
            <a:srgbClr val="E1A624"/>
          </a:solidFill>
          <a:ln w="9525">
            <a:solidFill>
              <a:srgbClr val="E1A6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ED9C8-673E-4199-8409-4795CEDEC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24950" y="1962150"/>
            <a:ext cx="1638300" cy="16383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A306266-1DBD-45D0-9874-9976D5E27B0C}"/>
              </a:ext>
            </a:extLst>
          </p:cNvPr>
          <p:cNvSpPr>
            <a:spLocks noGrp="1"/>
          </p:cNvSpPr>
          <p:nvPr/>
        </p:nvSpPr>
        <p:spPr>
          <a:xfrm>
            <a:off x="7905750" y="4000500"/>
            <a:ext cx="1162050" cy="1162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EAA0F-A896-48ED-A636-9E87ACECB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72450" y="4267200"/>
            <a:ext cx="628650" cy="62865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740684A-BD9E-4A59-9794-AFC060F924D6}"/>
              </a:ext>
            </a:extLst>
          </p:cNvPr>
          <p:cNvSpPr>
            <a:spLocks noGrp="1"/>
          </p:cNvSpPr>
          <p:nvPr/>
        </p:nvSpPr>
        <p:spPr>
          <a:xfrm>
            <a:off x="10382250" y="4219575"/>
            <a:ext cx="1162050" cy="1162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3705DE-EA90-4364-B50A-606BA664B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648950" y="4486275"/>
            <a:ext cx="6286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7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3B81F-5963-41BE-8E33-86DA06A1FD4F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Project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8383-D366-4A53-BFA3-CFC7961C2998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One project, two different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4551A-FEED-4067-9109-5EC16F91A3EE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89FEB2-1E36-478B-A31E-E8155AE24562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5353050" cy="333375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49AC75-DF77-474E-93A0-3492C4A16BF5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742950" cy="742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74FB27-6BD1-4F3D-B06B-F871029B8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700" y="2266950"/>
            <a:ext cx="400050" cy="400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EF83A1-9F1E-4735-BB84-AA8A8E35DBC1}"/>
              </a:ext>
            </a:extLst>
          </p:cNvPr>
          <p:cNvSpPr>
            <a:spLocks noGrp="1"/>
          </p:cNvSpPr>
          <p:nvPr/>
        </p:nvSpPr>
        <p:spPr>
          <a:xfrm>
            <a:off x="1790700" y="2114550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4A8134-C53B-41D1-8040-6AE5BBE52A40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667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1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Can public climate data identify real crop supply shocks?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03F60-FEB2-4C1B-87D0-F12106A78F3F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Compare weather and drought features with held-out crop yields.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E5A113-D8EA-43AD-BB58-BE0401FE7FA6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5353050" cy="333375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BF33A21-1B5C-405B-B0CA-0D7F0DB78E36}"/>
              </a:ext>
            </a:extLst>
          </p:cNvPr>
          <p:cNvSpPr>
            <a:spLocks noGrp="1"/>
          </p:cNvSpPr>
          <p:nvPr/>
        </p:nvSpPr>
        <p:spPr>
          <a:xfrm>
            <a:off x="6591300" y="2095500"/>
            <a:ext cx="742950" cy="7429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12881F-7E13-471C-933A-1F6E46747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62750" y="2266950"/>
            <a:ext cx="400050" cy="4000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398BB19-4B35-4204-8BB8-06B748402904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3667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2C4E7E-4DB3-42AB-9E8B-74D381EA3FCF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4667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1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1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Can those signals predict tradeable commodity returns?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FB73D4-B04C-4A10-8B1B-8A5AD5F9A7FA}"/>
              </a:ext>
            </a:extLst>
          </p:cNvPr>
          <p:cNvSpPr>
            <a:spLocks noGrp="1"/>
          </p:cNvSpPr>
          <p:nvPr/>
        </p:nvSpPr>
        <p:spPr>
          <a:xfrm>
            <a:off x="6591300" y="4238625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Compare climate models with market-only and simple-rule baselines.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39E401-4831-4632-B358-66C7EA9898A3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685800"/>
          </a:xfrm>
          <a:prstGeom prst="roundRect">
            <a:avLst>
              <a:gd name="adj" fmla="val 11111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E20F6F-FB0B-4D4D-BF26-A25391B41777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1051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Intended impact: better crop-risk measurement and an honest test of whether public data adds market timing value.</a:t>
            </a:r>
          </a:p>
        </p:txBody>
      </p:sp>
    </p:spTree>
    <p:extLst>
      <p:ext uri="{BB962C8B-B14F-4D97-AF65-F5344CB8AC3E}">
        <p14:creationId xmlns:p14="http://schemas.microsoft.com/office/powerpoint/2010/main" val="101990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A9CED3-EB2F-4C6D-BB04-EE953AADB8A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Progress since the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33DB-43E0-4403-8CFE-A77B3F26A326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The project moved from exploratory correlations to execution-grade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1A56F-886A-42B3-931D-16B7C1DB13A5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7A676-33DE-44D2-87BB-D3F87345D775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10096500" cy="47625"/>
          </a:xfrm>
          <a:prstGeom prst="rect">
            <a:avLst/>
          </a:prstGeom>
          <a:solidFill>
            <a:srgbClr val="D6DDD8"/>
          </a:solidFill>
          <a:ln w="0">
            <a:solidFill>
              <a:srgbClr val="D6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0A2D56-51D3-4E3A-B737-C458632C4C6E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533400" cy="5334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4DB6D-CE80-4B4F-B759-E2EC25ED7891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DEBAE-D96D-4A8A-8804-31EB75B89C16}"/>
              </a:ext>
            </a:extLst>
          </p:cNvPr>
          <p:cNvSpPr>
            <a:spLocks noGrp="1"/>
          </p:cNvSpPr>
          <p:nvPr/>
        </p:nvSpPr>
        <p:spPr>
          <a:xfrm>
            <a:off x="552450" y="32004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DATA PIPELINE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83439-747D-454F-BEFC-3FFF26B56F24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1952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Automated public climate, drought, yield and futures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735B28-489C-4668-875C-D9D85DD18AEC}"/>
              </a:ext>
            </a:extLst>
          </p:cNvPr>
          <p:cNvSpPr>
            <a:spLocks noGrp="1"/>
          </p:cNvSpPr>
          <p:nvPr/>
        </p:nvSpPr>
        <p:spPr>
          <a:xfrm>
            <a:off x="2990850" y="2362200"/>
            <a:ext cx="533400" cy="5334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0DD27F-736C-4C65-BCAA-94BFB0387EC5}"/>
              </a:ext>
            </a:extLst>
          </p:cNvPr>
          <p:cNvSpPr>
            <a:spLocks noGrp="1"/>
          </p:cNvSpPr>
          <p:nvPr/>
        </p:nvSpPr>
        <p:spPr>
          <a:xfrm>
            <a:off x="2990850" y="23622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201E4E-972E-4F48-BEAB-ED4797AFD536}"/>
              </a:ext>
            </a:extLst>
          </p:cNvPr>
          <p:cNvSpPr>
            <a:spLocks noGrp="1"/>
          </p:cNvSpPr>
          <p:nvPr/>
        </p:nvSpPr>
        <p:spPr>
          <a:xfrm>
            <a:off x="2819400" y="32004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PHYSICAL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FFB47E-30E3-4DA1-8688-0A2D05C9F359}"/>
              </a:ext>
            </a:extLst>
          </p:cNvPr>
          <p:cNvSpPr>
            <a:spLocks noGrp="1"/>
          </p:cNvSpPr>
          <p:nvPr/>
        </p:nvSpPr>
        <p:spPr>
          <a:xfrm>
            <a:off x="2819400" y="3619500"/>
            <a:ext cx="1952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County weather and drought validated against held-out corn yields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C6F9A5-2280-4588-BFDD-969E45A6CF6D}"/>
              </a:ext>
            </a:extLst>
          </p:cNvPr>
          <p:cNvSpPr>
            <a:spLocks noGrp="1"/>
          </p:cNvSpPr>
          <p:nvPr/>
        </p:nvSpPr>
        <p:spPr>
          <a:xfrm>
            <a:off x="5257800" y="2362200"/>
            <a:ext cx="533400" cy="5334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CD0617-0BE8-417A-AE9C-00E9A7654EA7}"/>
              </a:ext>
            </a:extLst>
          </p:cNvPr>
          <p:cNvSpPr>
            <a:spLocks noGrp="1"/>
          </p:cNvSpPr>
          <p:nvPr/>
        </p:nvSpPr>
        <p:spPr>
          <a:xfrm>
            <a:off x="5257800" y="23622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850BDF-704C-48E2-B1A6-D3F7420D7F73}"/>
              </a:ext>
            </a:extLst>
          </p:cNvPr>
          <p:cNvSpPr>
            <a:spLocks noGrp="1"/>
          </p:cNvSpPr>
          <p:nvPr/>
        </p:nvSpPr>
        <p:spPr>
          <a:xfrm>
            <a:off x="5086350" y="32004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MARKET TESTS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011704-1DDD-4F27-B49E-F5F1C2235D2D}"/>
              </a:ext>
            </a:extLst>
          </p:cNvPr>
          <p:cNvSpPr>
            <a:spLocks noGrp="1"/>
          </p:cNvSpPr>
          <p:nvPr/>
        </p:nvSpPr>
        <p:spPr>
          <a:xfrm>
            <a:off x="5086350" y="3619500"/>
            <a:ext cx="1952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Dated LSEG contracts, costs, rolls and point-in-time labels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E262F0-D208-48CB-9C93-085B82126281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533400" cy="5334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EE2E7-4326-48D6-82DF-D58B1E249424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4EA1B2-9F5E-4370-B4C3-46CA12A2FDEE}"/>
              </a:ext>
            </a:extLst>
          </p:cNvPr>
          <p:cNvSpPr>
            <a:spLocks noGrp="1"/>
          </p:cNvSpPr>
          <p:nvPr/>
        </p:nvSpPr>
        <p:spPr>
          <a:xfrm>
            <a:off x="7353300" y="32004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STRESS TESTS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26DE8F-4D24-44E4-AC8F-BD100BA3E7FA}"/>
              </a:ext>
            </a:extLst>
          </p:cNvPr>
          <p:cNvSpPr>
            <a:spLocks noGrp="1"/>
          </p:cNvSpPr>
          <p:nvPr/>
        </p:nvSpPr>
        <p:spPr>
          <a:xfrm>
            <a:off x="7353300" y="3619500"/>
            <a:ext cx="1952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Corn forecasts, USDA releases, cocoa and coffee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6A7E4F-3A3C-4C00-A5E8-E7B2EEB5C2DB}"/>
              </a:ext>
            </a:extLst>
          </p:cNvPr>
          <p:cNvSpPr>
            <a:spLocks noGrp="1"/>
          </p:cNvSpPr>
          <p:nvPr/>
        </p:nvSpPr>
        <p:spPr>
          <a:xfrm>
            <a:off x="9791700" y="2362200"/>
            <a:ext cx="533400" cy="533400"/>
          </a:xfrm>
          <a:prstGeom prst="ellipse">
            <a:avLst/>
          </a:prstGeom>
          <a:solidFill>
            <a:srgbClr val="C2502D"/>
          </a:solidFill>
          <a:ln w="9525">
            <a:solidFill>
              <a:srgbClr val="C250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3DD929-CBE2-4FF7-8DF8-69D9CF56D2AC}"/>
              </a:ext>
            </a:extLst>
          </p:cNvPr>
          <p:cNvSpPr>
            <a:spLocks noGrp="1"/>
          </p:cNvSpPr>
          <p:nvPr/>
        </p:nvSpPr>
        <p:spPr>
          <a:xfrm>
            <a:off x="9791700" y="2362200"/>
            <a:ext cx="53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60736B-DAC0-48CE-B27D-D2D1353B5386}"/>
              </a:ext>
            </a:extLst>
          </p:cNvPr>
          <p:cNvSpPr>
            <a:spLocks noGrp="1"/>
          </p:cNvSpPr>
          <p:nvPr/>
        </p:nvSpPr>
        <p:spPr>
          <a:xfrm>
            <a:off x="9620250" y="32004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4DD75C-2102-4617-858F-4D6DCE99823F}"/>
              </a:ext>
            </a:extLst>
          </p:cNvPr>
          <p:cNvSpPr>
            <a:spLocks noGrp="1"/>
          </p:cNvSpPr>
          <p:nvPr/>
        </p:nvSpPr>
        <p:spPr>
          <a:xfrm>
            <a:off x="9620250" y="3619500"/>
            <a:ext cx="19526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No trading specification clears the final validation gate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04B7BAF-EC00-4481-90E0-5742F8974DBA}"/>
              </a:ext>
            </a:extLst>
          </p:cNvPr>
          <p:cNvSpPr>
            <a:spLocks noGrp="1"/>
          </p:cNvSpPr>
          <p:nvPr/>
        </p:nvSpPr>
        <p:spPr>
          <a:xfrm>
            <a:off x="552450" y="5257800"/>
            <a:ext cx="11087100" cy="800100"/>
          </a:xfrm>
          <a:prstGeom prst="roundRect">
            <a:avLst>
              <a:gd name="adj" fmla="val 9524"/>
            </a:avLst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96C09A-6688-4AB0-9EF0-284D3BFE45E4}"/>
              </a:ext>
            </a:extLst>
          </p:cNvPr>
          <p:cNvSpPr>
            <a:spLocks noGrp="1"/>
          </p:cNvSpPr>
          <p:nvPr/>
        </p:nvSpPr>
        <p:spPr>
          <a:xfrm>
            <a:off x="838200" y="5400675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725" b="1" i="0">
                <a:solidFill>
                  <a:srgbClr val="1630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725" b="1" i="0">
                <a:solidFill>
                  <a:srgbClr val="1630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6302A"/>
                </a:solidFill>
                <a:latin typeface="Arial"/>
                <a:ea typeface="Arial"/>
                <a:cs typeface="Arial"/>
              </a:rPr>
              <a:t>Current status: the original trading hypothesis failed a much stronger test than the proposal could support.</a:t>
            </a:r>
          </a:p>
        </p:txBody>
      </p:sp>
    </p:spTree>
    <p:extLst>
      <p:ext uri="{BB962C8B-B14F-4D97-AF65-F5344CB8AC3E}">
        <p14:creationId xmlns:p14="http://schemas.microsoft.com/office/powerpoint/2010/main" val="120333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1716DB3-74EF-46EC-885A-6D5476C7857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Data collection and preparation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DA57A5-014A-4026-9633-23CBF4F4627C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Every feature is aligned to when it became available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123A4F-3669-4C4A-AA6F-96D00307DBF0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5AB52C-99F7-4B08-89FD-C22D5B9D6088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1B213-CF2D-49EC-B8C5-116AE418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000250"/>
            <a:ext cx="476250" cy="4762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4B0161-D796-4BC5-A9C9-C96602A5EE3D}"/>
              </a:ext>
            </a:extLst>
          </p:cNvPr>
          <p:cNvSpPr>
            <a:spLocks noGrp="1"/>
          </p:cNvSpPr>
          <p:nvPr/>
        </p:nvSpPr>
        <p:spPr>
          <a:xfrm>
            <a:off x="1390650" y="20193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PUBLIC CLIMATE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AAB9F-A2D9-4B9A-B326-86BAD325EFAA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NASA POWER, NOAA drought and GEFS forecasts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23DEBC-D40C-4373-A8F5-13E4CC4BB315}"/>
              </a:ext>
            </a:extLst>
          </p:cNvPr>
          <p:cNvSpPr>
            <a:spLocks noGrp="1"/>
          </p:cNvSpPr>
          <p:nvPr/>
        </p:nvSpPr>
        <p:spPr>
          <a:xfrm>
            <a:off x="3219450" y="179070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A042C-F8D8-483F-AABF-4995B1BF4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29000" y="2000250"/>
            <a:ext cx="476250" cy="4762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D16AA8-5C3E-4B7E-8355-6118295AABF2}"/>
              </a:ext>
            </a:extLst>
          </p:cNvPr>
          <p:cNvSpPr>
            <a:spLocks noGrp="1"/>
          </p:cNvSpPr>
          <p:nvPr/>
        </p:nvSpPr>
        <p:spPr>
          <a:xfrm>
            <a:off x="4057650" y="20193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CROP 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F09523-035D-4D13-9EF2-5C63C32AC064}"/>
              </a:ext>
            </a:extLst>
          </p:cNvPr>
          <p:cNvSpPr>
            <a:spLocks noGrp="1"/>
          </p:cNvSpPr>
          <p:nvPr/>
        </p:nvSpPr>
        <p:spPr>
          <a:xfrm>
            <a:off x="3429000" y="2628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County production, annual yield and USDA progress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7531A12-080F-4E4B-9B64-DCFD190F08C0}"/>
              </a:ext>
            </a:extLst>
          </p:cNvPr>
          <p:cNvSpPr>
            <a:spLocks noGrp="1"/>
          </p:cNvSpPr>
          <p:nvPr/>
        </p:nvSpPr>
        <p:spPr>
          <a:xfrm>
            <a:off x="5886450" y="1790700"/>
            <a:ext cx="2381250" cy="1447800"/>
          </a:xfrm>
          <a:prstGeom prst="roundRect">
            <a:avLst>
              <a:gd name="adj" fmla="val 526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390B4A-524E-45AC-B93E-5316A376D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0" y="2000250"/>
            <a:ext cx="476250" cy="4762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4991F64-1828-46D1-9A32-AAE41B4274B5}"/>
              </a:ext>
            </a:extLst>
          </p:cNvPr>
          <p:cNvSpPr>
            <a:spLocks noGrp="1"/>
          </p:cNvSpPr>
          <p:nvPr/>
        </p:nvSpPr>
        <p:spPr>
          <a:xfrm>
            <a:off x="6724650" y="20193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MARKET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73B969-31BC-463E-9D78-1AF4333F88C6}"/>
              </a:ext>
            </a:extLst>
          </p:cNvPr>
          <p:cNvSpPr>
            <a:spLocks noGrp="1"/>
          </p:cNvSpPr>
          <p:nvPr/>
        </p:nvSpPr>
        <p:spPr>
          <a:xfrm>
            <a:off x="6096000" y="2628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Dated LSEG corn, wheat, cocoa and coffee contracts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9340B0C-16B3-418C-895D-BA4EBA969550}"/>
              </a:ext>
            </a:extLst>
          </p:cNvPr>
          <p:cNvSpPr>
            <a:spLocks noGrp="1"/>
          </p:cNvSpPr>
          <p:nvPr/>
        </p:nvSpPr>
        <p:spPr>
          <a:xfrm>
            <a:off x="8810625" y="1790700"/>
            <a:ext cx="2828925" cy="1447800"/>
          </a:xfrm>
          <a:prstGeom prst="roundRect">
            <a:avLst>
              <a:gd name="adj" fmla="val 5263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1B3B01-0E5F-411D-8FA1-81EDDB9FC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48750" y="1990725"/>
            <a:ext cx="495300" cy="4953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9B51F76-7062-4C04-A7CD-B8926DE5BA2A}"/>
              </a:ext>
            </a:extLst>
          </p:cNvPr>
          <p:cNvSpPr>
            <a:spLocks noGrp="1"/>
          </p:cNvSpPr>
          <p:nvPr/>
        </p:nvSpPr>
        <p:spPr>
          <a:xfrm>
            <a:off x="9715500" y="201930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12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1A624"/>
                </a:solidFill>
                <a:latin typeface="Arial"/>
                <a:ea typeface="Arial"/>
                <a:cs typeface="Arial"/>
              </a:rPr>
              <a:t>POINT-IN-TIME PANEL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7B87E-48F1-4E5E-9F57-5E8C5685BB2A}"/>
              </a:ext>
            </a:extLst>
          </p:cNvPr>
          <p:cNvSpPr>
            <a:spLocks noGrp="1"/>
          </p:cNvSpPr>
          <p:nvPr/>
        </p:nvSpPr>
        <p:spPr>
          <a:xfrm>
            <a:off x="9048750" y="260985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decision row with the data actually available at that moment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FA18DF-7F54-4953-B53A-34AA7E336796}"/>
              </a:ext>
            </a:extLst>
          </p:cNvPr>
          <p:cNvSpPr>
            <a:spLocks noGrp="1"/>
          </p:cNvSpPr>
          <p:nvPr/>
        </p:nvSpPr>
        <p:spPr>
          <a:xfrm>
            <a:off x="1714500" y="3495675"/>
            <a:ext cx="8810625" cy="28575"/>
          </a:xfrm>
          <a:prstGeom prst="rect">
            <a:avLst/>
          </a:prstGeom>
          <a:solidFill>
            <a:srgbClr val="2E6B4F"/>
          </a:solidFill>
          <a:ln w="0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7CC4CD5-C486-4B74-9ACC-D0D0E9C1D195}"/>
              </a:ext>
            </a:extLst>
          </p:cNvPr>
          <p:cNvSpPr>
            <a:spLocks noGrp="1"/>
          </p:cNvSpPr>
          <p:nvPr/>
        </p:nvSpPr>
        <p:spPr>
          <a:xfrm>
            <a:off x="2809875" y="3381375"/>
            <a:ext cx="228600" cy="228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19AEA2-AD08-4C3A-904A-693F7D2BE416}"/>
              </a:ext>
            </a:extLst>
          </p:cNvPr>
          <p:cNvSpPr>
            <a:spLocks noGrp="1"/>
          </p:cNvSpPr>
          <p:nvPr/>
        </p:nvSpPr>
        <p:spPr>
          <a:xfrm>
            <a:off x="5476875" y="3381375"/>
            <a:ext cx="228600" cy="228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9C32FE-8C08-4CE9-B0EC-BAAB255AC784}"/>
              </a:ext>
            </a:extLst>
          </p:cNvPr>
          <p:cNvSpPr>
            <a:spLocks noGrp="1"/>
          </p:cNvSpPr>
          <p:nvPr/>
        </p:nvSpPr>
        <p:spPr>
          <a:xfrm>
            <a:off x="8143875" y="3381375"/>
            <a:ext cx="228600" cy="228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B2931A-5991-4FD7-ADD6-6D10E5293AB9}"/>
              </a:ext>
            </a:extLst>
          </p:cNvPr>
          <p:cNvSpPr>
            <a:spLocks noGrp="1"/>
          </p:cNvSpPr>
          <p:nvPr/>
        </p:nvSpPr>
        <p:spPr>
          <a:xfrm>
            <a:off x="552450" y="38862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Publication lag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4BF8C1-F124-4AF0-A1B5-A989DCD4C253}"/>
              </a:ext>
            </a:extLst>
          </p:cNvPr>
          <p:cNvSpPr>
            <a:spLocks noGrp="1"/>
          </p:cNvSpPr>
          <p:nvPr/>
        </p:nvSpPr>
        <p:spPr>
          <a:xfrm>
            <a:off x="3219450" y="3886200"/>
            <a:ext cx="842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Store release timestamps and prohibit future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12A2AE-2CF1-45A5-8093-6ADB8F1BFA3B}"/>
              </a:ext>
            </a:extLst>
          </p:cNvPr>
          <p:cNvSpPr>
            <a:spLocks noGrp="1"/>
          </p:cNvSpPr>
          <p:nvPr/>
        </p:nvSpPr>
        <p:spPr>
          <a:xfrm>
            <a:off x="552450" y="4429125"/>
            <a:ext cx="11087100" cy="9525"/>
          </a:xfrm>
          <a:prstGeom prst="rect">
            <a:avLst/>
          </a:prstGeom>
          <a:solidFill>
            <a:srgbClr val="D6DDD8"/>
          </a:solidFill>
          <a:ln w="0">
            <a:solidFill>
              <a:srgbClr val="D6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21332-4D24-4FAC-B4A5-B514566A90CF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Missing and uneven coverage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58C217-30CC-49F8-BB2F-FB50B569FC3A}"/>
              </a:ext>
            </a:extLst>
          </p:cNvPr>
          <p:cNvSpPr>
            <a:spLocks noGrp="1"/>
          </p:cNvSpPr>
          <p:nvPr/>
        </p:nvSpPr>
        <p:spPr>
          <a:xfrm>
            <a:off x="3219450" y="4552950"/>
            <a:ext cx="842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Keep missing values explicit and impute only inside training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34C284-2649-40EE-B6A8-8CDE3B78C98C}"/>
              </a:ext>
            </a:extLst>
          </p:cNvPr>
          <p:cNvSpPr>
            <a:spLocks noGrp="1"/>
          </p:cNvSpPr>
          <p:nvPr/>
        </p:nvSpPr>
        <p:spPr>
          <a:xfrm>
            <a:off x="552450" y="5095875"/>
            <a:ext cx="11087100" cy="9525"/>
          </a:xfrm>
          <a:prstGeom prst="rect">
            <a:avLst/>
          </a:prstGeom>
          <a:solidFill>
            <a:srgbClr val="D6DDD8"/>
          </a:solidFill>
          <a:ln w="0">
            <a:solidFill>
              <a:srgbClr val="D6D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BD284E-4A50-4980-8E70-57586F5E190F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Contract rolls and trading costs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03BFE5-F0B2-4CDD-BBCF-C15DC79FF085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84201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Use dated contracts, next-open entries and row-level costs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927CEE-2EF4-4002-BE97-F7D742558112}"/>
              </a:ext>
            </a:extLst>
          </p:cNvPr>
          <p:cNvSpPr>
            <a:spLocks noGrp="1"/>
          </p:cNvSpPr>
          <p:nvPr/>
        </p:nvSpPr>
        <p:spPr>
          <a:xfrm>
            <a:off x="552450" y="6305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Sources: NASA POWER, NOAA, USDA NASS, US Drought Monitor and LSEG Workspace.</a:t>
            </a:r>
          </a:p>
        </p:txBody>
      </p:sp>
    </p:spTree>
    <p:extLst>
      <p:ext uri="{BB962C8B-B14F-4D97-AF65-F5344CB8AC3E}">
        <p14:creationId xmlns:p14="http://schemas.microsoft.com/office/powerpoint/2010/main" val="155951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2498A43-BAB4-49B0-8045-4B0473B73B8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Model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E41A7-DB1D-4176-82B9-B9860AF965EE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Climate models had to beat market-only and simple-rule baselines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2F8476-801C-4E11-B60C-B6BC776365BB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6652D5-07A3-412A-83C8-EA06EF685DA2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3333750" cy="3676650"/>
          </a:xfrm>
          <a:prstGeom prst="roundRect">
            <a:avLst>
              <a:gd name="adj" fmla="val 2286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FA6208-9346-47DB-B0C7-77F434D1FCD5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1A624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39D96-6741-494C-A034-D034C24A13B8}"/>
              </a:ext>
            </a:extLst>
          </p:cNvPr>
          <p:cNvSpPr>
            <a:spLocks noGrp="1"/>
          </p:cNvSpPr>
          <p:nvPr/>
        </p:nvSpPr>
        <p:spPr>
          <a:xfrm>
            <a:off x="838200" y="2619375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4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24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Market-only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E2C31E-16B8-49CA-B964-91496C8337D4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6860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FD3C8"/>
                </a:solidFill>
                <a:latin typeface="Arial"/>
                <a:ea typeface="Arial"/>
                <a:cs typeface="Arial"/>
              </a:rPr>
              <a:t>Recent returns, volatility, curve shape and seasonality, with the same dates and costs as every climate candidate.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432C0-8BD7-4DAB-9A48-2D7A8E91D4A5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fixed trading rules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D341D7-F2F2-4042-873F-4D3E9FF9F60D}"/>
              </a:ext>
            </a:extLst>
          </p:cNvPr>
          <p:cNvSpPr>
            <a:spLocks noGrp="1"/>
          </p:cNvSpPr>
          <p:nvPr/>
        </p:nvSpPr>
        <p:spPr>
          <a:xfrm>
            <a:off x="4381500" y="17621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CANDIDATE FEATURES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ADFC72-B4B1-4F2D-B428-AFDBF0CE6BF4}"/>
              </a:ext>
            </a:extLst>
          </p:cNvPr>
          <p:cNvSpPr>
            <a:spLocks noGrp="1"/>
          </p:cNvSpPr>
          <p:nvPr/>
        </p:nvSpPr>
        <p:spPr>
          <a:xfrm>
            <a:off x="4381500" y="2266950"/>
            <a:ext cx="628650" cy="62865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0D6972-D25A-4019-B723-1858AEE58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24375" y="2409825"/>
            <a:ext cx="342900" cy="342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BDB2F6-8C4D-478E-9A3B-FA5A8F17715B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Observed stress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5C53CA-06E3-4690-8DD2-D74A5FECA8B7}"/>
              </a:ext>
            </a:extLst>
          </p:cNvPr>
          <p:cNvSpPr>
            <a:spLocks noGrp="1"/>
          </p:cNvSpPr>
          <p:nvPr/>
        </p:nvSpPr>
        <p:spPr>
          <a:xfrm>
            <a:off x="5219700" y="266700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Heat, rainfall and drought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E9CB27-40EE-4A14-86DD-D70A0128ABD1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628650" cy="62865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8D5E89-DC78-433E-8E06-98DBD37A4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24375" y="3476625"/>
            <a:ext cx="342900" cy="3429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2AC412D-FE9A-49BF-B924-D7176880F3DC}"/>
              </a:ext>
            </a:extLst>
          </p:cNvPr>
          <p:cNvSpPr>
            <a:spLocks noGrp="1"/>
          </p:cNvSpPr>
          <p:nvPr/>
        </p:nvSpPr>
        <p:spPr>
          <a:xfrm>
            <a:off x="5219700" y="3333750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Forecast revisions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AD7E6-A063-4D52-937F-41DAACC2DDE5}"/>
              </a:ext>
            </a:extLst>
          </p:cNvPr>
          <p:cNvSpPr>
            <a:spLocks noGrp="1"/>
          </p:cNvSpPr>
          <p:nvPr/>
        </p:nvSpPr>
        <p:spPr>
          <a:xfrm>
            <a:off x="5219700" y="373380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Operational GEFS changes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8A6B15-C3CF-4581-942A-285D1422267A}"/>
              </a:ext>
            </a:extLst>
          </p:cNvPr>
          <p:cNvSpPr>
            <a:spLocks noGrp="1"/>
          </p:cNvSpPr>
          <p:nvPr/>
        </p:nvSpPr>
        <p:spPr>
          <a:xfrm>
            <a:off x="4381500" y="4400550"/>
            <a:ext cx="628650" cy="628650"/>
          </a:xfrm>
          <a:prstGeom prst="ellipse">
            <a:avLst/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E7EAD7-247D-42B4-A23F-B379E7DF0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24375" y="4543425"/>
            <a:ext cx="342900" cy="3429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1E514FB-43B4-4A28-91DA-2E2C1895CA34}"/>
              </a:ext>
            </a:extLst>
          </p:cNvPr>
          <p:cNvSpPr>
            <a:spLocks noGrp="1"/>
          </p:cNvSpPr>
          <p:nvPr/>
        </p:nvSpPr>
        <p:spPr>
          <a:xfrm>
            <a:off x="5219700" y="4400550"/>
            <a:ext cx="2809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Scheduled releases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4C41E-C468-4CF0-AFE7-908B6D164D59}"/>
              </a:ext>
            </a:extLst>
          </p:cNvPr>
          <p:cNvSpPr>
            <a:spLocks noGrp="1"/>
          </p:cNvSpPr>
          <p:nvPr/>
        </p:nvSpPr>
        <p:spPr>
          <a:xfrm>
            <a:off x="5219700" y="4800600"/>
            <a:ext cx="2809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USDA crop condition and progress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9DBE9-A7E6-4158-87EF-772D46CA5B4C}"/>
              </a:ext>
            </a:extLst>
          </p:cNvPr>
          <p:cNvSpPr>
            <a:spLocks noGrp="1"/>
          </p:cNvSpPr>
          <p:nvPr/>
        </p:nvSpPr>
        <p:spPr>
          <a:xfrm>
            <a:off x="8524875" y="17621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MODEL FAMILIES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B135BFB-33B0-4E79-B324-0C6B83679DF2}"/>
              </a:ext>
            </a:extLst>
          </p:cNvPr>
          <p:cNvSpPr>
            <a:spLocks noGrp="1"/>
          </p:cNvSpPr>
          <p:nvPr/>
        </p:nvSpPr>
        <p:spPr>
          <a:xfrm>
            <a:off x="8524875" y="2286000"/>
            <a:ext cx="3114675" cy="571500"/>
          </a:xfrm>
          <a:prstGeom prst="roundRect">
            <a:avLst>
              <a:gd name="adj" fmla="val 1333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6DBA5-B565-4FFB-881C-85382B2DB7F2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2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42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Ridge regression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B2148C4-363B-462A-A213-D6637A499432}"/>
              </a:ext>
            </a:extLst>
          </p:cNvPr>
          <p:cNvSpPr>
            <a:spLocks noGrp="1"/>
          </p:cNvSpPr>
          <p:nvPr/>
        </p:nvSpPr>
        <p:spPr>
          <a:xfrm>
            <a:off x="8524875" y="3067050"/>
            <a:ext cx="3114675" cy="571500"/>
          </a:xfrm>
          <a:prstGeom prst="roundRect">
            <a:avLst>
              <a:gd name="adj" fmla="val 1333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D68307-252B-481F-A1DA-CC206F86B743}"/>
              </a:ext>
            </a:extLst>
          </p:cNvPr>
          <p:cNvSpPr>
            <a:spLocks noGrp="1"/>
          </p:cNvSpPr>
          <p:nvPr/>
        </p:nvSpPr>
        <p:spPr>
          <a:xfrm>
            <a:off x="8763000" y="31813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2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425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Logistic direction model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7C03925-C971-4EE5-9300-68018A6AE3DB}"/>
              </a:ext>
            </a:extLst>
          </p:cNvPr>
          <p:cNvSpPr>
            <a:spLocks noGrp="1"/>
          </p:cNvSpPr>
          <p:nvPr/>
        </p:nvSpPr>
        <p:spPr>
          <a:xfrm>
            <a:off x="8524875" y="3848100"/>
            <a:ext cx="3114675" cy="57150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A4468F-FE32-4180-A4F9-95B55F2DF222}"/>
              </a:ext>
            </a:extLst>
          </p:cNvPr>
          <p:cNvSpPr>
            <a:spLocks noGrp="1"/>
          </p:cNvSpPr>
          <p:nvPr/>
        </p:nvSpPr>
        <p:spPr>
          <a:xfrm>
            <a:off x="8763000" y="39624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4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Shallow boosted trees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A5469B2-DA90-4C4E-AC67-BF1CDD79ED42}"/>
              </a:ext>
            </a:extLst>
          </p:cNvPr>
          <p:cNvSpPr>
            <a:spLocks noGrp="1"/>
          </p:cNvSpPr>
          <p:nvPr/>
        </p:nvSpPr>
        <p:spPr>
          <a:xfrm>
            <a:off x="8524875" y="4819650"/>
            <a:ext cx="3114675" cy="619125"/>
          </a:xfrm>
          <a:prstGeom prst="roundRect">
            <a:avLst>
              <a:gd name="adj" fmla="val 12308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71AD97-F46C-4173-A09D-C119D9743F94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Selection ended before the final test period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B2038A-512F-45B3-8F00-7B0313D3ADAA}"/>
              </a:ext>
            </a:extLst>
          </p:cNvPr>
          <p:cNvSpPr>
            <a:spLocks noGrp="1"/>
          </p:cNvSpPr>
          <p:nvPr/>
        </p:nvSpPr>
        <p:spPr>
          <a:xfrm>
            <a:off x="552450" y="6305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All models use expanding time splits, target embargoes, non-overlapping trades and modeled execution costs.</a:t>
            </a:r>
          </a:p>
        </p:txBody>
      </p:sp>
    </p:spTree>
    <p:extLst>
      <p:ext uri="{BB962C8B-B14F-4D97-AF65-F5344CB8AC3E}">
        <p14:creationId xmlns:p14="http://schemas.microsoft.com/office/powerpoint/2010/main" val="117141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7AE697D-730A-4F37-8114-F9B11032A757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What worked: measuring corn supply risk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5331A-1FD1-4AA5-B23A-D8B10218FEA8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County weather and drought predict held-out yield shortfalls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298A8-D374-4ECE-9DC1-9233DE3A640C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CC66F2-224E-409F-8E85-3FD248895B98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Held-out yield R²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4E224F7C-2672-4056-A416-03370F8C9620}"/>
              </a:ext>
            </a:extLst>
          </p:cNvPr>
          <p:cNvGraphicFramePr/>
          <p:nvPr/>
        </p:nvGraphicFramePr>
        <p:xfrm>
          <a:off x="552450" y="2009775"/>
          <a:ext cx="6858000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C262EA7-7817-4BCA-936F-E18BFA579A05}"/>
              </a:ext>
            </a:extLst>
          </p:cNvPr>
          <p:cNvSpPr>
            <a:spLocks noGrp="1"/>
          </p:cNvSpPr>
          <p:nvPr/>
        </p:nvSpPr>
        <p:spPr>
          <a:xfrm>
            <a:off x="8096250" y="195262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435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4350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0.73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9A5F2C-EA1D-413C-A06F-E5AF6E3FE91D}"/>
              </a:ext>
            </a:extLst>
          </p:cNvPr>
          <p:cNvSpPr>
            <a:spLocks noGrp="1"/>
          </p:cNvSpPr>
          <p:nvPr/>
        </p:nvSpPr>
        <p:spPr>
          <a:xfrm>
            <a:off x="8096250" y="26670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Out-of-sample R² across 26 held-out harvests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7448FE-2008-461E-8560-782AC150B551}"/>
              </a:ext>
            </a:extLst>
          </p:cNvPr>
          <p:cNvSpPr>
            <a:spLocks noGrp="1"/>
          </p:cNvSpPr>
          <p:nvPr/>
        </p:nvSpPr>
        <p:spPr>
          <a:xfrm>
            <a:off x="8096250" y="357187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435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435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0.46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FEB2DB-0A86-4FDE-9FC3-AEBDC9480ED1}"/>
              </a:ext>
            </a:extLst>
          </p:cNvPr>
          <p:cNvSpPr>
            <a:spLocks noGrp="1"/>
          </p:cNvSpPr>
          <p:nvPr/>
        </p:nvSpPr>
        <p:spPr>
          <a:xfrm>
            <a:off x="8096250" y="42862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R² after removing the exceptional 2012 drought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90F264-5545-4BFD-B4A8-7DE86FCB93E6}"/>
              </a:ext>
            </a:extLst>
          </p:cNvPr>
          <p:cNvSpPr>
            <a:spLocks noGrp="1"/>
          </p:cNvSpPr>
          <p:nvPr/>
        </p:nvSpPr>
        <p:spPr>
          <a:xfrm>
            <a:off x="7962900" y="5219700"/>
            <a:ext cx="3676650" cy="685800"/>
          </a:xfrm>
          <a:prstGeom prst="roundRect">
            <a:avLst>
              <a:gd name="adj" fmla="val 11111"/>
            </a:avLst>
          </a:prstGeom>
          <a:solidFill>
            <a:srgbClr val="DCEBE2"/>
          </a:solidFill>
          <a:ln w="9525">
            <a:solidFill>
              <a:srgbClr val="DCE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A70FF-69E9-4D99-AF7E-59984DA284E2}"/>
              </a:ext>
            </a:extLst>
          </p:cNvPr>
          <p:cNvSpPr>
            <a:spLocks noGrp="1"/>
          </p:cNvSpPr>
          <p:nvPr/>
        </p:nvSpPr>
        <p:spPr>
          <a:xfrm>
            <a:off x="8191500" y="5343525"/>
            <a:ext cx="3219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25" b="1" i="0">
                <a:solidFill>
                  <a:srgbClr val="16302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425" b="1" i="0">
                <a:solidFill>
                  <a:srgbClr val="1630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302A"/>
                </a:solidFill>
                <a:latin typeface="Arial"/>
                <a:ea typeface="Arial"/>
                <a:cs typeface="Arial"/>
              </a:rPr>
              <a:t>The physical measurement generalizes beyond one extreme year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6FDD3-EFF7-47BD-81AC-1D42299B4D70}"/>
              </a:ext>
            </a:extLst>
          </p:cNvPr>
          <p:cNvSpPr>
            <a:spLocks noGrp="1"/>
          </p:cNvSpPr>
          <p:nvPr/>
        </p:nvSpPr>
        <p:spPr>
          <a:xfrm>
            <a:off x="552450" y="6305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Metric: leave-one-year-out R². Source: project corn-yield validation, 2000–2025.</a:t>
            </a:r>
          </a:p>
        </p:txBody>
      </p:sp>
    </p:spTree>
    <p:extLst>
      <p:ext uri="{BB962C8B-B14F-4D97-AF65-F5344CB8AC3E}">
        <p14:creationId xmlns:p14="http://schemas.microsoft.com/office/powerpoint/2010/main" val="1663229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4B640FA-DEC4-4A8D-8F3B-5A607C775D0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What failed: repeatable buy and sell signals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4DEC5-67CF-45F1-9592-DD9C0562316E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Promising development results did not survive stricter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9517-FBE5-4040-86B3-D211988312FD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25E61-0BB4-4FE9-A1E7-E8333C2BBAAF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1" i="0">
                <a:solidFill>
                  <a:srgbClr val="2E6B4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E6B4F"/>
                </a:solidFill>
                <a:latin typeface="Arial"/>
                <a:ea typeface="Arial"/>
                <a:cs typeface="Arial"/>
              </a:rPr>
              <a:t>Net return after modeled costs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D4F07650-B9C4-46C1-8450-B46693AEF382}"/>
              </a:ext>
            </a:extLst>
          </p:cNvPr>
          <p:cNvGraphicFramePr/>
          <p:nvPr/>
        </p:nvGraphicFramePr>
        <p:xfrm>
          <a:off x="2000250" y="2000250"/>
          <a:ext cx="52197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075C1B4-D18A-487A-9EA1-F164CEE4B2C9}"/>
              </a:ext>
            </a:extLst>
          </p:cNvPr>
          <p:cNvSpPr>
            <a:spLocks noGrp="1"/>
          </p:cNvSpPr>
          <p:nvPr/>
        </p:nvSpPr>
        <p:spPr>
          <a:xfrm>
            <a:off x="552450" y="2390775"/>
            <a:ext cx="1314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GEFS development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387FF-44FA-4D7D-B0EE-DBB38D6E1535}"/>
              </a:ext>
            </a:extLst>
          </p:cNvPr>
          <p:cNvSpPr>
            <a:spLocks noGrp="1"/>
          </p:cNvSpPr>
          <p:nvPr/>
        </p:nvSpPr>
        <p:spPr>
          <a:xfrm>
            <a:off x="6407448" y="2390775"/>
            <a:ext cx="74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1D2723"/>
                </a:solidFill>
                <a:latin typeface="Arial"/>
                <a:ea typeface="Arial"/>
                <a:cs typeface="Arial"/>
              </a:rPr>
              <a:t>42.0%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63ED2-42F9-4AC1-9072-E6C736ECC04F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1314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GEFS 2026 holdout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235B4-EADB-4FB4-A52E-71CB938F73C0}"/>
              </a:ext>
            </a:extLst>
          </p:cNvPr>
          <p:cNvSpPr>
            <a:spLocks noGrp="1"/>
          </p:cNvSpPr>
          <p:nvPr/>
        </p:nvSpPr>
        <p:spPr>
          <a:xfrm>
            <a:off x="3676650" y="3371850"/>
            <a:ext cx="59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2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-7.3%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299630-04DF-4F6C-8714-33151F2D1392}"/>
              </a:ext>
            </a:extLst>
          </p:cNvPr>
          <p:cNvSpPr>
            <a:spLocks noGrp="1"/>
          </p:cNvSpPr>
          <p:nvPr/>
        </p:nvSpPr>
        <p:spPr>
          <a:xfrm>
            <a:off x="552450" y="4352925"/>
            <a:ext cx="1314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12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USDA progress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FF345A-600A-4E1C-9BDA-5B945E20306E}"/>
              </a:ext>
            </a:extLst>
          </p:cNvPr>
          <p:cNvSpPr>
            <a:spLocks noGrp="1"/>
          </p:cNvSpPr>
          <p:nvPr/>
        </p:nvSpPr>
        <p:spPr>
          <a:xfrm>
            <a:off x="3143250" y="4352925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-52.7%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F03DB5-5D96-4A35-9576-E30999A0F2EC}"/>
              </a:ext>
            </a:extLst>
          </p:cNvPr>
          <p:cNvSpPr>
            <a:spLocks noGrp="1"/>
          </p:cNvSpPr>
          <p:nvPr/>
        </p:nvSpPr>
        <p:spPr>
          <a:xfrm>
            <a:off x="7667625" y="1809750"/>
            <a:ext cx="3971925" cy="1257300"/>
          </a:xfrm>
          <a:prstGeom prst="roundRect">
            <a:avLst>
              <a:gd name="adj" fmla="val 6061"/>
            </a:avLst>
          </a:prstGeom>
          <a:solidFill>
            <a:srgbClr val="16302A"/>
          </a:solidFill>
          <a:ln w="9525">
            <a:solidFill>
              <a:srgbClr val="163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FDDA01-8E08-4141-BF14-DE06A4722135}"/>
              </a:ext>
            </a:extLst>
          </p:cNvPr>
          <p:cNvSpPr>
            <a:spLocks noGrp="1"/>
          </p:cNvSpPr>
          <p:nvPr/>
        </p:nvSpPr>
        <p:spPr>
          <a:xfrm>
            <a:off x="7953375" y="20288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12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12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1A624"/>
                </a:solidFill>
                <a:latin typeface="Arial"/>
                <a:ea typeface="Arial"/>
                <a:cs typeface="Arial"/>
              </a:rPr>
              <a:t>CURRENT 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BB60E-A80C-48E8-9878-20217DC5F2AF}"/>
              </a:ext>
            </a:extLst>
          </p:cNvPr>
          <p:cNvSpPr>
            <a:spLocks noGrp="1"/>
          </p:cNvSpPr>
          <p:nvPr/>
        </p:nvSpPr>
        <p:spPr>
          <a:xfrm>
            <a:off x="7953375" y="2419350"/>
            <a:ext cx="333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 buy or sell model is ready for 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936A91-FC39-435D-A38E-8B044B01666F}"/>
              </a:ext>
            </a:extLst>
          </p:cNvPr>
          <p:cNvSpPr>
            <a:spLocks noGrp="1"/>
          </p:cNvSpPr>
          <p:nvPr/>
        </p:nvSpPr>
        <p:spPr>
          <a:xfrm>
            <a:off x="7810500" y="33528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6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6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−0.98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FD00D0-D124-4150-903B-5D3E4FFDEE42}"/>
              </a:ext>
            </a:extLst>
          </p:cNvPr>
          <p:cNvSpPr>
            <a:spLocks noGrp="1"/>
          </p:cNvSpPr>
          <p:nvPr/>
        </p:nvSpPr>
        <p:spPr>
          <a:xfrm>
            <a:off x="9144000" y="34004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GEFS holdout Sharpe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90F1-C98B-4111-A6B0-71FED95885F0}"/>
              </a:ext>
            </a:extLst>
          </p:cNvPr>
          <p:cNvSpPr>
            <a:spLocks noGrp="1"/>
          </p:cNvSpPr>
          <p:nvPr/>
        </p:nvSpPr>
        <p:spPr>
          <a:xfrm>
            <a:off x="7810500" y="413385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6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625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EE35C7-C377-45FB-92B0-411F9FFAEA28}"/>
              </a:ext>
            </a:extLst>
          </p:cNvPr>
          <p:cNvSpPr>
            <a:spLocks noGrp="1"/>
          </p:cNvSpPr>
          <p:nvPr/>
        </p:nvSpPr>
        <p:spPr>
          <a:xfrm>
            <a:off x="9144000" y="418147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Positive USDA years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0186AB-8AFD-44B0-A13B-7DD738E726F9}"/>
              </a:ext>
            </a:extLst>
          </p:cNvPr>
          <p:cNvSpPr>
            <a:spLocks noGrp="1"/>
          </p:cNvSpPr>
          <p:nvPr/>
        </p:nvSpPr>
        <p:spPr>
          <a:xfrm>
            <a:off x="7810500" y="4914900"/>
            <a:ext cx="123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2625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2625" b="1" i="0">
                <a:solidFill>
                  <a:srgbClr val="C2502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C250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6B8855-8751-4681-8214-586B6B2313B1}"/>
              </a:ext>
            </a:extLst>
          </p:cNvPr>
          <p:cNvSpPr>
            <a:spLocks noGrp="1"/>
          </p:cNvSpPr>
          <p:nvPr/>
        </p:nvSpPr>
        <p:spPr>
          <a:xfrm>
            <a:off x="9144000" y="4962525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35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Strategies promoted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BB944-5B50-4214-AE1B-574F16071848}"/>
              </a:ext>
            </a:extLst>
          </p:cNvPr>
          <p:cNvSpPr>
            <a:spLocks noGrp="1"/>
          </p:cNvSpPr>
          <p:nvPr/>
        </p:nvSpPr>
        <p:spPr>
          <a:xfrm>
            <a:off x="552450" y="56769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275" b="0" i="1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0" i="1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E6A64"/>
                </a:solidFill>
                <a:latin typeface="Arial"/>
                <a:ea typeface="Arial"/>
                <a:cs typeface="Arial"/>
              </a:rPr>
              <a:t>Evaluation: net after costs, Sharpe, drawdown, positive years, doubled costs and matched baselines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8CC434-73A2-45FD-B19C-AF74A3268460}"/>
              </a:ext>
            </a:extLst>
          </p:cNvPr>
          <p:cNvSpPr>
            <a:spLocks noGrp="1"/>
          </p:cNvSpPr>
          <p:nvPr/>
        </p:nvSpPr>
        <p:spPr>
          <a:xfrm>
            <a:off x="552450" y="6305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Different samples are shown. Replication and gate outcomes matter more than cross-sample magnitude.</a:t>
            </a:r>
          </a:p>
        </p:txBody>
      </p:sp>
    </p:spTree>
    <p:extLst>
      <p:ext uri="{BB962C8B-B14F-4D97-AF65-F5344CB8AC3E}">
        <p14:creationId xmlns:p14="http://schemas.microsoft.com/office/powerpoint/2010/main" val="28602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EDEA07D-9777-4286-9AAD-067B5C6F83EF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087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1D2723"/>
                </a:solidFill>
                <a:latin typeface="Georgia"/>
                <a:ea typeface="Georgia"/>
                <a:cs typeface="Georgia"/>
              </a:rPr>
              <a:t>Challenges, risks and responses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82CB96-2F71-4859-AD04-9BD83F65D3D8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00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The main risk is finding a story in noise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A637E-5D45-4CC2-819F-341621496DB6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r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A389C-713E-4061-B2AE-0417A055040A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1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04F349-1519-4237-9FE6-11D9EBA8E049}"/>
              </a:ext>
            </a:extLst>
          </p:cNvPr>
          <p:cNvSpPr>
            <a:spLocks noGrp="1"/>
          </p:cNvSpPr>
          <p:nvPr/>
        </p:nvSpPr>
        <p:spPr>
          <a:xfrm>
            <a:off x="5905500" y="16383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1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00" b="1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A92B61-328A-4C0C-B172-AF6645CA0B23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4857750" cy="914400"/>
          </a:xfrm>
          <a:prstGeom prst="roundRect">
            <a:avLst>
              <a:gd name="adj" fmla="val 8333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CA678-C051-4AD3-A162-D8076BC00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2419350"/>
            <a:ext cx="361950" cy="361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38CA7F-D510-46A6-94E7-1EAF6442485B}"/>
              </a:ext>
            </a:extLst>
          </p:cNvPr>
          <p:cNvSpPr>
            <a:spLocks noGrp="1"/>
          </p:cNvSpPr>
          <p:nvPr/>
        </p:nvSpPr>
        <p:spPr>
          <a:xfrm>
            <a:off x="1285875" y="23431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Many model choices can create false confidence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04BFA0-EF8A-42BD-88E7-6816EB9E9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57825" y="2476500"/>
            <a:ext cx="228600" cy="2286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28DB7D-C988-4813-955A-3B0830161E68}"/>
              </a:ext>
            </a:extLst>
          </p:cNvPr>
          <p:cNvSpPr>
            <a:spLocks noGrp="1"/>
          </p:cNvSpPr>
          <p:nvPr/>
        </p:nvSpPr>
        <p:spPr>
          <a:xfrm>
            <a:off x="5905500" y="2143125"/>
            <a:ext cx="5734050" cy="914400"/>
          </a:xfrm>
          <a:prstGeom prst="roundRect">
            <a:avLst>
              <a:gd name="adj" fmla="val 833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BF5F45-35BC-443C-8482-4077D2436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15050" y="2419350"/>
            <a:ext cx="361950" cy="3619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2E721F-C7F0-4795-B647-76EE022D9E81}"/>
              </a:ext>
            </a:extLst>
          </p:cNvPr>
          <p:cNvSpPr>
            <a:spLocks noGrp="1"/>
          </p:cNvSpPr>
          <p:nvPr/>
        </p:nvSpPr>
        <p:spPr>
          <a:xfrm>
            <a:off x="6648450" y="2343150"/>
            <a:ext cx="4686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Freeze candidates and gates before the final test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33A62D-A5F5-4F94-9249-11255FC3BB6B}"/>
              </a:ext>
            </a:extLst>
          </p:cNvPr>
          <p:cNvSpPr>
            <a:spLocks noGrp="1"/>
          </p:cNvSpPr>
          <p:nvPr/>
        </p:nvSpPr>
        <p:spPr>
          <a:xfrm>
            <a:off x="552450" y="3362325"/>
            <a:ext cx="4857750" cy="914400"/>
          </a:xfrm>
          <a:prstGeom prst="roundRect">
            <a:avLst>
              <a:gd name="adj" fmla="val 8333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634918-904D-4308-B80D-8FA542AF8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3638550"/>
            <a:ext cx="361950" cy="3619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CEEA32-1AB4-46E9-9A4F-0718A171B99A}"/>
              </a:ext>
            </a:extLst>
          </p:cNvPr>
          <p:cNvSpPr>
            <a:spLocks noGrp="1"/>
          </p:cNvSpPr>
          <p:nvPr/>
        </p:nvSpPr>
        <p:spPr>
          <a:xfrm>
            <a:off x="1285875" y="35623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Extreme weather events are scarce and uneven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684FA0-FB95-4363-A30F-7D4084CC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57825" y="3695700"/>
            <a:ext cx="228600" cy="228600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FBD5FBA-A3D6-44B9-870B-1F85DE62A29F}"/>
              </a:ext>
            </a:extLst>
          </p:cNvPr>
          <p:cNvSpPr>
            <a:spLocks noGrp="1"/>
          </p:cNvSpPr>
          <p:nvPr/>
        </p:nvSpPr>
        <p:spPr>
          <a:xfrm>
            <a:off x="5905500" y="3362325"/>
            <a:ext cx="5734050" cy="914400"/>
          </a:xfrm>
          <a:prstGeom prst="roundRect">
            <a:avLst>
              <a:gd name="adj" fmla="val 833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316CCC-B5D4-4F7D-BAD6-EB3242611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15050" y="3638550"/>
            <a:ext cx="361950" cy="3619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9D942BD-2631-4CC9-81F2-6C8E177970F6}"/>
              </a:ext>
            </a:extLst>
          </p:cNvPr>
          <p:cNvSpPr>
            <a:spLocks noGrp="1"/>
          </p:cNvSpPr>
          <p:nvPr/>
        </p:nvSpPr>
        <p:spPr>
          <a:xfrm>
            <a:off x="6648450" y="3562350"/>
            <a:ext cx="4686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Use time-based validation and report null results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864761-7C42-4237-A9CC-801A1CBE7B67}"/>
              </a:ext>
            </a:extLst>
          </p:cNvPr>
          <p:cNvSpPr>
            <a:spLocks noGrp="1"/>
          </p:cNvSpPr>
          <p:nvPr/>
        </p:nvSpPr>
        <p:spPr>
          <a:xfrm>
            <a:off x="552450" y="4581525"/>
            <a:ext cx="4857750" cy="914400"/>
          </a:xfrm>
          <a:prstGeom prst="roundRect">
            <a:avLst>
              <a:gd name="adj" fmla="val 8333"/>
            </a:avLst>
          </a:prstGeom>
          <a:solidFill>
            <a:srgbClr val="F9E7E2"/>
          </a:solidFill>
          <a:ln w="9525">
            <a:solidFill>
              <a:srgbClr val="F9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6C7A1B-DA8D-431F-B933-8BC543DF8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4857750"/>
            <a:ext cx="361950" cy="3619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9D48AAD-5140-4959-8C52-C8DA91449E40}"/>
              </a:ext>
            </a:extLst>
          </p:cNvPr>
          <p:cNvSpPr>
            <a:spLocks noGrp="1"/>
          </p:cNvSpPr>
          <p:nvPr/>
        </p:nvSpPr>
        <p:spPr>
          <a:xfrm>
            <a:off x="1285875" y="47815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1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Public observations may arrive after prices move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F1FDE2-8AEC-4881-AA7D-6F2677853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57825" y="4914900"/>
            <a:ext cx="228600" cy="228600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B3AFD1A-9CB4-449B-8AD1-DE2F487C0992}"/>
              </a:ext>
            </a:extLst>
          </p:cNvPr>
          <p:cNvSpPr>
            <a:spLocks noGrp="1"/>
          </p:cNvSpPr>
          <p:nvPr/>
        </p:nvSpPr>
        <p:spPr>
          <a:xfrm>
            <a:off x="5905500" y="4581525"/>
            <a:ext cx="5734050" cy="914400"/>
          </a:xfrm>
          <a:prstGeom prst="roundRect">
            <a:avLst>
              <a:gd name="adj" fmla="val 8333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8FD125D-34AE-4757-970A-1190F04FD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15050" y="4857750"/>
            <a:ext cx="361950" cy="3619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FEFB201-3F31-4074-9D0E-7C401F78FC7B}"/>
              </a:ext>
            </a:extLst>
          </p:cNvPr>
          <p:cNvSpPr>
            <a:spLocks noGrp="1"/>
          </p:cNvSpPr>
          <p:nvPr/>
        </p:nvSpPr>
        <p:spPr>
          <a:xfrm>
            <a:off x="6648450" y="4781550"/>
            <a:ext cx="4686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00" b="0" i="0">
                <a:solidFill>
                  <a:srgbClr val="1D272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D2723"/>
                </a:solidFill>
                <a:latin typeface="Arial"/>
                <a:ea typeface="Arial"/>
                <a:cs typeface="Arial"/>
              </a:rPr>
              <a:t>Track publication times and test operational forecasts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D98019-1636-4B5F-B5BD-B83F6CD45688}"/>
              </a:ext>
            </a:extLst>
          </p:cNvPr>
          <p:cNvSpPr>
            <a:spLocks noGrp="1"/>
          </p:cNvSpPr>
          <p:nvPr/>
        </p:nvSpPr>
        <p:spPr>
          <a:xfrm>
            <a:off x="552450" y="6305550"/>
            <a:ext cx="1033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975" b="0" i="0">
                <a:solidFill>
                  <a:srgbClr val="5E6A6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E6A64"/>
                </a:solidFill>
                <a:latin typeface="Arial"/>
                <a:ea typeface="Arial"/>
                <a:cs typeface="Arial"/>
              </a:rPr>
              <a:t>A failed predeclared test closes a specification. It does not justify tuning against the failure.</a:t>
            </a:r>
          </a:p>
        </p:txBody>
      </p:sp>
    </p:spTree>
    <p:extLst>
      <p:ext uri="{BB962C8B-B14F-4D97-AF65-F5344CB8AC3E}">
        <p14:creationId xmlns:p14="http://schemas.microsoft.com/office/powerpoint/2010/main" val="186282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887DD-E731-4985-94DF-20A1DD49CCB8}"/>
              </a:ext>
            </a:extLst>
          </p:cNvPr>
          <p:cNvSpPr>
            <a:spLocks noGrp="1"/>
          </p:cNvSpPr>
          <p:nvPr/>
        </p:nvSpPr>
        <p:spPr>
          <a:xfrm>
            <a:off x="552450" y="9525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275" b="1" i="0">
                <a:solidFill>
                  <a:srgbClr val="E1A62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1A624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F16BC-6726-45E1-944A-D8E36D5D180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7239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36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supply-risk model is the defensible final deliverable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C92B95-CE8B-4721-9056-56C69252BE0F}"/>
              </a:ext>
            </a:extLst>
          </p:cNvPr>
          <p:cNvSpPr>
            <a:spLocks noGrp="1"/>
          </p:cNvSpPr>
          <p:nvPr/>
        </p:nvSpPr>
        <p:spPr>
          <a:xfrm>
            <a:off x="552450" y="3048000"/>
            <a:ext cx="676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8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BFD3C8"/>
                </a:solidFill>
                <a:latin typeface="Arial"/>
                <a:ea typeface="Arial"/>
                <a:cs typeface="Arial"/>
              </a:rPr>
              <a:t>The final project will estimate crop supply risk from point-in-time climate data and document why the tested trading signals do not generalize.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ECAC6F-1DB8-480D-B02A-63E0D57C95D7}"/>
              </a:ext>
            </a:extLst>
          </p:cNvPr>
          <p:cNvSpPr>
            <a:spLocks noGrp="1"/>
          </p:cNvSpPr>
          <p:nvPr/>
        </p:nvSpPr>
        <p:spPr>
          <a:xfrm>
            <a:off x="8048625" y="1466850"/>
            <a:ext cx="609600" cy="609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0C97-0B39-43DC-9D45-7284DEADDCB5}"/>
              </a:ext>
            </a:extLst>
          </p:cNvPr>
          <p:cNvSpPr>
            <a:spLocks noGrp="1"/>
          </p:cNvSpPr>
          <p:nvPr/>
        </p:nvSpPr>
        <p:spPr>
          <a:xfrm>
            <a:off x="8048625" y="14668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F684A5-B6AA-44C8-9251-3695D4282F63}"/>
              </a:ext>
            </a:extLst>
          </p:cNvPr>
          <p:cNvSpPr>
            <a:spLocks noGrp="1"/>
          </p:cNvSpPr>
          <p:nvPr/>
        </p:nvSpPr>
        <p:spPr>
          <a:xfrm>
            <a:off x="8905875" y="14478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Calibrate yield-risk probabilities and uncertainty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9E811E-3C3D-4894-84C8-573F734ACE8D}"/>
              </a:ext>
            </a:extLst>
          </p:cNvPr>
          <p:cNvSpPr>
            <a:spLocks noGrp="1"/>
          </p:cNvSpPr>
          <p:nvPr/>
        </p:nvSpPr>
        <p:spPr>
          <a:xfrm>
            <a:off x="8048625" y="2590800"/>
            <a:ext cx="609600" cy="609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E6B3AF-DAAA-4148-A9AD-6C82E1C3DFF5}"/>
              </a:ext>
            </a:extLst>
          </p:cNvPr>
          <p:cNvSpPr>
            <a:spLocks noGrp="1"/>
          </p:cNvSpPr>
          <p:nvPr/>
        </p:nvSpPr>
        <p:spPr>
          <a:xfrm>
            <a:off x="8048625" y="259080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DE58AE-0BB4-4F02-B1B8-F785F261DC0E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 the reproducible pipeline and model card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EE9CEB-5005-4A4E-B087-0010ED65D8CC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609600" cy="609600"/>
          </a:xfrm>
          <a:prstGeom prst="ellipse">
            <a:avLst/>
          </a:prstGeom>
          <a:solidFill>
            <a:srgbClr val="2E6B4F"/>
          </a:solidFill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60E299-DACA-4B8C-A381-96311E9FD246}"/>
              </a:ext>
            </a:extLst>
          </p:cNvPr>
          <p:cNvSpPr>
            <a:spLocks noGrp="1"/>
          </p:cNvSpPr>
          <p:nvPr/>
        </p:nvSpPr>
        <p:spPr>
          <a:xfrm>
            <a:off x="8048625" y="3714750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A6762-EB5D-4F92-A878-9B710A04F6F3}"/>
              </a:ext>
            </a:extLst>
          </p:cNvPr>
          <p:cNvSpPr>
            <a:spLocks noGrp="1"/>
          </p:cNvSpPr>
          <p:nvPr/>
        </p:nvSpPr>
        <p:spPr>
          <a:xfrm>
            <a:off x="8905875" y="36957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Write the final comparison and document the null result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216440-7438-4BBF-9845-B0B88A3C53D2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428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3375" b="1" i="0">
                <a:solidFill>
                  <a:srgbClr val="E1A624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00000"/>
              </a:lnSpc>
              <a:buNone/>
              <a:defRPr sz="3375" b="1" i="0">
                <a:solidFill>
                  <a:srgbClr val="E1A624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E1A624"/>
                </a:solidFill>
                <a:latin typeface="Georgia"/>
                <a:ea typeface="Georgia"/>
                <a:cs typeface="Georgia"/>
              </a:rPr>
              <a:t>Questions?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1969BF-ACE5-4785-8A5C-104A5F36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6115050"/>
            <a:ext cx="285750" cy="285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D4A5D5E-14FA-4397-9B13-990C3EDE98ED}"/>
              </a:ext>
            </a:extLst>
          </p:cNvPr>
          <p:cNvSpPr>
            <a:spLocks noGrp="1"/>
          </p:cNvSpPr>
          <p:nvPr/>
        </p:nvSpPr>
        <p:spPr>
          <a:xfrm>
            <a:off x="952500" y="6105525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>
            <a:defPPr algn="l">
              <a:defRPr sz="142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0000"/>
              </a:lnSpc>
              <a:buNone/>
              <a:defRPr sz="142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FD3C8"/>
                </a:solidFill>
                <a:latin typeface="Arial"/>
                <a:ea typeface="Arial"/>
                <a:cs typeface="Arial"/>
              </a:rPr>
              <a:t>github.com/haydn-s/climate-futures-pricing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E38C08-28FD-4132-A5C8-B77685D67C5C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0000"/>
              </a:lnSpc>
              <a:buNone/>
              <a:defRPr sz="975" b="0" i="0">
                <a:solidFill>
                  <a:srgbClr val="BFD3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FD3C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938783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1872</Words>
  <Application>Microsoft Macintosh PowerPoint</Application>
  <DocSecurity>0</DocSecurity>
  <PresentationFormat>Widescreen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Haydn Stucker</cp:lastModifiedBy>
  <cp:revision>2</cp:revision>
  <dcterms:created xsi:type="dcterms:W3CDTF">2026-10-13T14:04:22Z</dcterms:created>
  <dcterms:modified xsi:type="dcterms:W3CDTF">2026-10-14T17:31:48Z</dcterms:modified>
</cp:coreProperties>
</file>